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project asked whether numeric audio features — things like energy, danceability, and tempo — can predict how popular a song becomes on Spotify. The short answer is: better than a linear model, but with a hard ceiling that no amount of modeling can break through. That ceiling is the real finding.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AutoResearch loop had a simple rule: run an experiment, measure validation RMSE, keep it if it improves, discard it if it doesn't. The loop is fully reproducible — frozen train/validation split, fixed random seed, no external data. That discipline is what makes the 16 RMSE numbers comparable to each other.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trajectory chart on the right shows this cleanly. There is one large step down — the switch to Random Forest — and then the curve flattens. Everything after that first drop produced combined improvement of 0.06 RMSE units across 12 experiments. The loop explored the right directions; it just ran out of signal to exploit.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decision in the entire project was switching from Linear Regression to Random Forest. That one change accounts for 99% of the total improvement. Everything else — transforms, hyperparameter tuning, alternative ensembles — moved the needle by a combined 0.06 units. If the loop had stopped after Week 2, the result would have been essentially the same.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Documenting failure is as important as documenting success. Three consecutive interaction-term experiments all failed for the same reason — RF already discovers interactions through splits — but the loop ran all three before moving on. That's a structural weakness: the loop executes its checklist rather than updating its beliefs after the first failure.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result. The model performs reasonably on the average track but fails dramatically on breakout popular tracks. That's a 2.1× RMSE difference between the medium and high buckets. The high-popularity bucket is where all the interesting prediction happens — and that's exactly where the audio features run out of signal. The missing information is artist reputation, playlist placement, and release context. None of that is in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analysis rules out the alternative explanation — that the model fails because it misreads certain audio profiles. Slicing by any audio feature produces at most 3 units of RMSE variation and near-zero bias. Slicing by popularity produces 15 units of RMSE variation and 34 units of bias swing. The failure is in the popularity dimension, not the audio dimension. No model change, transform, or hyperparameter could have addressed this. The loop hit the ceiling of its own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is good at mechanical discipline and bad at knowing when to stop or what to look at. The index artifact — a CSV row number that acted as a genre proxy — was the highest-importance feature for five weeks because the loop had no self-auditing component. It was only caught when the interpretability analysis ran in Week 6. The fix is procedural: inspect feature importances after the first model fit, run a bucket analysis after Week 3, and build diminishing-returns checkpoints into the loop. The bigger lesson is that the most valuable output of this project was not the RMSE number — it was characterizing exactly why the number cannot get lower.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17520"/>
            <a:ext cx="12188952" cy="7315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05840"/>
            <a:ext cx="11155680" cy="1645920"/>
          </a:xfrm>
          <a:prstGeom prst="rect">
            <a:avLst/>
          </a:prstGeom>
          <a:noFill/>
        </p:spPr>
        <p:txBody>
          <a:bodyPr wrap="square">
            <a:spAutoFit/>
          </a:bodyPr>
          <a:lstStyle/>
          <a:p>
            <a:pPr algn="ctr"/>
            <a:r>
              <a:rPr sz="4200" b="1" i="0">
                <a:solidFill>
                  <a:srgbClr val="FFFFFF"/>
                </a:solidFill>
                <a:latin typeface="Calibri"/>
              </a:rPr>
              <a:t>The Limits of Audio-Only Popularity Prediction</a:t>
            </a:r>
          </a:p>
        </p:txBody>
      </p:sp>
      <p:sp>
        <p:nvSpPr>
          <p:cNvPr id="5" name="TextBox 4"/>
          <p:cNvSpPr txBox="1"/>
          <p:nvPr/>
        </p:nvSpPr>
        <p:spPr>
          <a:xfrm>
            <a:off x="548640" y="2606040"/>
            <a:ext cx="11155680" cy="548640"/>
          </a:xfrm>
          <a:prstGeom prst="rect">
            <a:avLst/>
          </a:prstGeom>
          <a:noFill/>
        </p:spPr>
        <p:txBody>
          <a:bodyPr wrap="square">
            <a:spAutoFit/>
          </a:bodyPr>
          <a:lstStyle/>
          <a:p>
            <a:pPr algn="ctr"/>
            <a:r>
              <a:rPr sz="2100" b="0" i="0">
                <a:solidFill>
                  <a:srgbClr val="1DB954"/>
                </a:solidFill>
                <a:latin typeface="Calibri"/>
              </a:rPr>
              <a:t>An AutoResearch Investigation of Spotify Track Popularity</a:t>
            </a:r>
          </a:p>
        </p:txBody>
      </p:sp>
      <p:sp>
        <p:nvSpPr>
          <p:cNvPr id="6" name="TextBox 5"/>
          <p:cNvSpPr txBox="1"/>
          <p:nvPr/>
        </p:nvSpPr>
        <p:spPr>
          <a:xfrm>
            <a:off x="548640" y="3246120"/>
            <a:ext cx="11155680" cy="457200"/>
          </a:xfrm>
          <a:prstGeom prst="rect">
            <a:avLst/>
          </a:prstGeom>
          <a:noFill/>
        </p:spPr>
        <p:txBody>
          <a:bodyPr wrap="square">
            <a:spAutoFit/>
          </a:bodyPr>
          <a:lstStyle/>
          <a:p>
            <a:pPr algn="ctr"/>
            <a:r>
              <a:rPr sz="1600" b="0" i="0">
                <a:solidFill>
                  <a:srgbClr val="AAAAAA"/>
                </a:solidFill>
                <a:latin typeface="Calibri"/>
              </a:rPr>
              <a:t>Emily Yoo  ·  AutoResearch Program  ·  Weeks 2–6</a:t>
            </a:r>
          </a:p>
        </p:txBody>
      </p:sp>
      <p:sp>
        <p:nvSpPr>
          <p:cNvPr id="7" name="Rectangle 6"/>
          <p:cNvSpPr/>
          <p:nvPr/>
        </p:nvSpPr>
        <p:spPr>
          <a:xfrm>
            <a:off x="502920" y="4114800"/>
            <a:ext cx="2926080"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294376"/>
            <a:ext cx="2926080"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06240"/>
            <a:ext cx="2651760" cy="640080"/>
          </a:xfrm>
          <a:prstGeom prst="rect">
            <a:avLst/>
          </a:prstGeom>
          <a:noFill/>
        </p:spPr>
        <p:txBody>
          <a:bodyPr wrap="square">
            <a:spAutoFit/>
          </a:bodyPr>
          <a:lstStyle/>
          <a:p>
            <a:pPr algn="ctr"/>
            <a:r>
              <a:rPr sz="2600" b="1" i="0">
                <a:solidFill>
                  <a:srgbClr val="FFFFFF"/>
                </a:solidFill>
                <a:latin typeface="Calibri"/>
              </a:rPr>
              <a:t>~114,000</a:t>
            </a:r>
          </a:p>
        </p:txBody>
      </p:sp>
      <p:sp>
        <p:nvSpPr>
          <p:cNvPr id="10" name="TextBox 9"/>
          <p:cNvSpPr txBox="1"/>
          <p:nvPr/>
        </p:nvSpPr>
        <p:spPr>
          <a:xfrm>
            <a:off x="640080" y="4800600"/>
            <a:ext cx="2651760" cy="502920"/>
          </a:xfrm>
          <a:prstGeom prst="rect">
            <a:avLst/>
          </a:prstGeom>
          <a:noFill/>
        </p:spPr>
        <p:txBody>
          <a:bodyPr wrap="square">
            <a:spAutoFit/>
          </a:bodyPr>
          <a:lstStyle/>
          <a:p>
            <a:pPr algn="ctr"/>
            <a:r>
              <a:rPr sz="1300" b="0" i="0">
                <a:solidFill>
                  <a:srgbClr val="BBBBBB"/>
                </a:solidFill>
                <a:latin typeface="Calibri"/>
              </a:rPr>
              <a:t>Spotify tracks</a:t>
            </a:r>
          </a:p>
        </p:txBody>
      </p:sp>
      <p:sp>
        <p:nvSpPr>
          <p:cNvPr id="11" name="Rectangle 10"/>
          <p:cNvSpPr/>
          <p:nvPr/>
        </p:nvSpPr>
        <p:spPr>
          <a:xfrm>
            <a:off x="4398264" y="4114800"/>
            <a:ext cx="2926080"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98264" y="5294376"/>
            <a:ext cx="2926080"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4206240"/>
            <a:ext cx="2651760" cy="640080"/>
          </a:xfrm>
          <a:prstGeom prst="rect">
            <a:avLst/>
          </a:prstGeom>
          <a:noFill/>
        </p:spPr>
        <p:txBody>
          <a:bodyPr wrap="square">
            <a:spAutoFit/>
          </a:bodyPr>
          <a:lstStyle/>
          <a:p>
            <a:pPr algn="ctr"/>
            <a:r>
              <a:rPr sz="2600" b="1" i="0">
                <a:solidFill>
                  <a:srgbClr val="FFFFFF"/>
                </a:solidFill>
                <a:latin typeface="Calibri"/>
              </a:rPr>
              <a:t>16</a:t>
            </a:r>
          </a:p>
        </p:txBody>
      </p:sp>
      <p:sp>
        <p:nvSpPr>
          <p:cNvPr id="14" name="TextBox 13"/>
          <p:cNvSpPr txBox="1"/>
          <p:nvPr/>
        </p:nvSpPr>
        <p:spPr>
          <a:xfrm>
            <a:off x="4535424" y="4800600"/>
            <a:ext cx="2651760" cy="502920"/>
          </a:xfrm>
          <a:prstGeom prst="rect">
            <a:avLst/>
          </a:prstGeom>
          <a:noFill/>
        </p:spPr>
        <p:txBody>
          <a:bodyPr wrap="square">
            <a:spAutoFit/>
          </a:bodyPr>
          <a:lstStyle/>
          <a:p>
            <a:pPr algn="ctr"/>
            <a:r>
              <a:rPr sz="1300" b="0" i="0">
                <a:solidFill>
                  <a:srgbClr val="BBBBBB"/>
                </a:solidFill>
                <a:latin typeface="Calibri"/>
              </a:rPr>
              <a:t>experiments over 5 weeks</a:t>
            </a:r>
          </a:p>
        </p:txBody>
      </p:sp>
      <p:sp>
        <p:nvSpPr>
          <p:cNvPr id="15" name="Rectangle 14"/>
          <p:cNvSpPr/>
          <p:nvPr/>
        </p:nvSpPr>
        <p:spPr>
          <a:xfrm>
            <a:off x="8293608" y="4114800"/>
            <a:ext cx="2926080"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93608" y="5294376"/>
            <a:ext cx="2926080"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4206240"/>
            <a:ext cx="2651760" cy="640080"/>
          </a:xfrm>
          <a:prstGeom prst="rect">
            <a:avLst/>
          </a:prstGeom>
          <a:noFill/>
        </p:spPr>
        <p:txBody>
          <a:bodyPr wrap="square">
            <a:spAutoFit/>
          </a:bodyPr>
          <a:lstStyle/>
          <a:p>
            <a:pPr algn="ctr"/>
            <a:r>
              <a:rPr sz="2600" b="1" i="0">
                <a:solidFill>
                  <a:srgbClr val="FFFFFF"/>
                </a:solidFill>
                <a:latin typeface="Calibri"/>
              </a:rPr>
              <a:t>22.06 → 15.72</a:t>
            </a:r>
          </a:p>
        </p:txBody>
      </p:sp>
      <p:sp>
        <p:nvSpPr>
          <p:cNvPr id="18" name="TextBox 17"/>
          <p:cNvSpPr txBox="1"/>
          <p:nvPr/>
        </p:nvSpPr>
        <p:spPr>
          <a:xfrm>
            <a:off x="8430768" y="4800600"/>
            <a:ext cx="2651760" cy="502920"/>
          </a:xfrm>
          <a:prstGeom prst="rect">
            <a:avLst/>
          </a:prstGeom>
          <a:noFill/>
        </p:spPr>
        <p:txBody>
          <a:bodyPr wrap="square">
            <a:spAutoFit/>
          </a:bodyPr>
          <a:lstStyle/>
          <a:p>
            <a:pPr algn="ctr"/>
            <a:r>
              <a:rPr sz="1300" b="0" i="0">
                <a:solidFill>
                  <a:srgbClr val="BBBBBB"/>
                </a:solidFill>
                <a:latin typeface="Calibri"/>
              </a:rPr>
              <a:t>RMSE baseline → final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029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56032"/>
            <a:ext cx="11430000" cy="777240"/>
          </a:xfrm>
          <a:prstGeom prst="rect">
            <a:avLst/>
          </a:prstGeom>
          <a:noFill/>
        </p:spPr>
        <p:txBody>
          <a:bodyPr wrap="square">
            <a:spAutoFit/>
          </a:bodyPr>
          <a:lstStyle/>
          <a:p>
            <a:pPr algn="l"/>
            <a:r>
              <a:rPr sz="3200" b="1" i="0">
                <a:solidFill>
                  <a:srgbClr val="FFFFFF"/>
                </a:solidFill>
                <a:latin typeface="Calibri"/>
              </a:rPr>
              <a:t>The AutoResearch Contract</a:t>
            </a:r>
          </a:p>
        </p:txBody>
      </p:sp>
      <p:sp>
        <p:nvSpPr>
          <p:cNvPr id="6" name="TextBox 5"/>
          <p:cNvSpPr txBox="1"/>
          <p:nvPr/>
        </p:nvSpPr>
        <p:spPr>
          <a:xfrm>
            <a:off x="411480" y="868680"/>
            <a:ext cx="11430000" cy="411480"/>
          </a:xfrm>
          <a:prstGeom prst="rect">
            <a:avLst/>
          </a:prstGeom>
          <a:noFill/>
        </p:spPr>
        <p:txBody>
          <a:bodyPr wrap="square">
            <a:spAutoFit/>
          </a:bodyPr>
          <a:lstStyle/>
          <a:p>
            <a:pPr algn="l"/>
            <a:r>
              <a:rPr sz="1500" b="0" i="0">
                <a:solidFill>
                  <a:srgbClr val="1DB954"/>
                </a:solidFill>
                <a:latin typeface="Calibri"/>
              </a:rPr>
              <a:t>Topic → how the research loop was structured</a:t>
            </a:r>
          </a:p>
        </p:txBody>
      </p:sp>
      <p:sp>
        <p:nvSpPr>
          <p:cNvPr id="7" name="Rectangle 6"/>
          <p:cNvSpPr/>
          <p:nvPr/>
        </p:nvSpPr>
        <p:spPr>
          <a:xfrm>
            <a:off x="411480" y="1463040"/>
            <a:ext cx="548640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63040"/>
            <a:ext cx="5486400"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17904"/>
            <a:ext cx="5212080" cy="365760"/>
          </a:xfrm>
          <a:prstGeom prst="rect">
            <a:avLst/>
          </a:prstGeom>
          <a:noFill/>
        </p:spPr>
        <p:txBody>
          <a:bodyPr wrap="square">
            <a:spAutoFit/>
          </a:bodyPr>
          <a:lstStyle/>
          <a:p>
            <a:pPr algn="l"/>
            <a:r>
              <a:rPr sz="1400" b="1" i="0">
                <a:solidFill>
                  <a:srgbClr val="FFFFFF"/>
                </a:solidFill>
                <a:latin typeface="Calibri"/>
              </a:rPr>
              <a:t>Research Question</a:t>
            </a:r>
          </a:p>
        </p:txBody>
      </p:sp>
      <p:sp>
        <p:nvSpPr>
          <p:cNvPr id="10" name="TextBox 9"/>
          <p:cNvSpPr txBox="1"/>
          <p:nvPr/>
        </p:nvSpPr>
        <p:spPr>
          <a:xfrm>
            <a:off x="594360" y="2057400"/>
            <a:ext cx="5120640" cy="4297680"/>
          </a:xfrm>
          <a:prstGeom prst="rect">
            <a:avLst/>
          </a:prstGeom>
          <a:noFill/>
        </p:spPr>
        <p:txBody>
          <a:bodyPr wrap="square">
            <a:spAutoFit/>
          </a:bodyPr>
          <a:lstStyle/>
          <a:p>
            <a:pPr algn="l"/>
            <a:r>
              <a:rPr sz="1500" b="0">
                <a:solidFill>
                  <a:srgbClr val="1A1A1A"/>
                </a:solidFill>
                <a:latin typeface="Calibri"/>
              </a:rPr>
              <a:t>Can Spotify track popularity be predicted</a:t>
            </a:r>
          </a:p>
          <a:p>
            <a:pPr algn="l"/>
            <a:r>
              <a:rPr sz="1500" b="0">
                <a:solidFill>
                  <a:srgbClr val="1A1A1A"/>
                </a:solidFill>
                <a:latin typeface="Calibri"/>
              </a:rPr>
              <a:t>from numeric audio features alone?</a:t>
            </a:r>
          </a:p>
          <a:p>
            <a:pPr algn="l"/>
            <a:r>
              <a:rPr sz="1500" b="0">
                <a:solidFill>
                  <a:srgbClr val="1A1A1A"/>
                </a:solidFill>
                <a:latin typeface="Calibri"/>
              </a:rPr>
              <a:t/>
            </a:r>
          </a:p>
          <a:p>
            <a:pPr algn="l"/>
            <a:r>
              <a:rPr sz="1500" b="0">
                <a:solidFill>
                  <a:srgbClr val="1A1A1A"/>
                </a:solidFill>
                <a:latin typeface="Calibri"/>
              </a:rPr>
              <a:t>13 numeric features:</a:t>
            </a:r>
          </a:p>
          <a:p>
            <a:pPr algn="l"/>
            <a:r>
              <a:rPr sz="1500" b="0">
                <a:solidFill>
                  <a:srgbClr val="1A1A1A"/>
                </a:solidFill>
                <a:latin typeface="Calibri"/>
              </a:rPr>
              <a:t>danceability · energy · loudness · tempo</a:t>
            </a:r>
          </a:p>
          <a:p>
            <a:pPr algn="l"/>
            <a:r>
              <a:rPr sz="1500" b="0">
                <a:solidFill>
                  <a:srgbClr val="1A1A1A"/>
                </a:solidFill>
                <a:latin typeface="Calibri"/>
              </a:rPr>
              <a:t>speechiness · acousticness · instrumentalness</a:t>
            </a:r>
          </a:p>
          <a:p>
            <a:pPr algn="l"/>
            <a:r>
              <a:rPr sz="1500" b="0">
                <a:solidFill>
                  <a:srgbClr val="1A1A1A"/>
                </a:solidFill>
                <a:latin typeface="Calibri"/>
              </a:rPr>
              <a:t>liveness · valence · key · mode</a:t>
            </a:r>
          </a:p>
          <a:p>
            <a:pPr algn="l"/>
            <a:r>
              <a:rPr sz="1500" b="0">
                <a:solidFill>
                  <a:srgbClr val="1A1A1A"/>
                </a:solidFill>
                <a:latin typeface="Calibri"/>
              </a:rPr>
              <a:t>time_signature · duration_ms</a:t>
            </a:r>
          </a:p>
          <a:p>
            <a:pPr algn="l"/>
            <a:r>
              <a:rPr sz="1500" b="0">
                <a:solidFill>
                  <a:srgbClr val="1A1A1A"/>
                </a:solidFill>
                <a:latin typeface="Calibri"/>
              </a:rPr>
              <a:t/>
            </a:r>
          </a:p>
          <a:p>
            <a:pPr algn="l"/>
            <a:r>
              <a:rPr sz="1500" b="0">
                <a:solidFill>
                  <a:srgbClr val="1A1A1A"/>
                </a:solidFill>
                <a:latin typeface="Calibri"/>
              </a:rPr>
              <a:t>Target: popularity  (0–100 integer)</a:t>
            </a:r>
          </a:p>
          <a:p>
            <a:pPr algn="l"/>
            <a:r>
              <a:rPr sz="1500" b="0">
                <a:solidFill>
                  <a:srgbClr val="1A1A1A"/>
                </a:solidFill>
                <a:latin typeface="Calibri"/>
              </a:rPr>
              <a:t>Dataset: 114,000 tracks</a:t>
            </a:r>
          </a:p>
          <a:p>
            <a:pPr algn="l"/>
            <a:r>
              <a:rPr sz="1500" b="0">
                <a:solidFill>
                  <a:srgbClr val="1A1A1A"/>
                </a:solidFill>
                <a:latin typeface="Calibri"/>
              </a:rPr>
              <a:t>Evaluation: validation RMSE</a:t>
            </a:r>
          </a:p>
          <a:p>
            <a:pPr algn="l"/>
            <a:r>
              <a:rPr sz="1500" b="0">
                <a:solidFill>
                  <a:srgbClr val="1A1A1A"/>
                </a:solidFill>
                <a:latin typeface="Calibri"/>
              </a:rPr>
              <a:t>Random seed: 42 (frozen throughout)</a:t>
            </a:r>
          </a:p>
        </p:txBody>
      </p:sp>
      <p:sp>
        <p:nvSpPr>
          <p:cNvPr id="11" name="Rectangle 10"/>
          <p:cNvSpPr/>
          <p:nvPr/>
        </p:nvSpPr>
        <p:spPr>
          <a:xfrm>
            <a:off x="6217920" y="1463040"/>
            <a:ext cx="5577840" cy="502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63040"/>
            <a:ext cx="5577840" cy="4572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517904"/>
            <a:ext cx="5303520" cy="365760"/>
          </a:xfrm>
          <a:prstGeom prst="rect">
            <a:avLst/>
          </a:prstGeom>
          <a:noFill/>
        </p:spPr>
        <p:txBody>
          <a:bodyPr wrap="square">
            <a:spAutoFit/>
          </a:bodyPr>
          <a:lstStyle/>
          <a:p>
            <a:pPr algn="l"/>
            <a:r>
              <a:rPr sz="1400" b="1" i="0">
                <a:solidFill>
                  <a:srgbClr val="1DB954"/>
                </a:solidFill>
                <a:latin typeface="Calibri"/>
              </a:rPr>
              <a:t>The Keep / Discard / Crash Loop</a:t>
            </a:r>
          </a:p>
        </p:txBody>
      </p:sp>
      <p:sp>
        <p:nvSpPr>
          <p:cNvPr id="14" name="TextBox 13"/>
          <p:cNvSpPr txBox="1"/>
          <p:nvPr/>
        </p:nvSpPr>
        <p:spPr>
          <a:xfrm>
            <a:off x="6400800" y="2057400"/>
            <a:ext cx="5303520" cy="4297680"/>
          </a:xfrm>
          <a:prstGeom prst="rect">
            <a:avLst/>
          </a:prstGeom>
          <a:noFill/>
        </p:spPr>
        <p:txBody>
          <a:bodyPr wrap="square">
            <a:spAutoFit/>
          </a:bodyPr>
          <a:lstStyle/>
          <a:p>
            <a:pPr algn="l"/>
            <a:r>
              <a:rPr sz="1500" b="0">
                <a:solidFill>
                  <a:srgbClr val="1A1A1A"/>
                </a:solidFill>
                <a:latin typeface="Calibri"/>
              </a:rPr>
              <a:t>Run experiment → measure validation RMSE</a:t>
            </a:r>
          </a:p>
          <a:p>
            <a:pPr algn="l"/>
            <a:r>
              <a:rPr sz="800" b="0">
                <a:solidFill>
                  <a:srgbClr val="1A1A1A"/>
                </a:solidFill>
                <a:latin typeface="Calibri"/>
              </a:rPr>
              <a:t/>
            </a:r>
          </a:p>
          <a:p>
            <a:pPr algn="l"/>
            <a:r>
              <a:rPr sz="1500" b="1">
                <a:solidFill>
                  <a:srgbClr val="27AE60"/>
                </a:solidFill>
                <a:latin typeface="Calibri"/>
              </a:rPr>
              <a:t>✓  Keep    — RMSE improves → retain change</a:t>
            </a:r>
          </a:p>
          <a:p>
            <a:pPr algn="l"/>
            <a:r>
              <a:rPr sz="1500" b="1">
                <a:solidFill>
                  <a:srgbClr val="E03A3A"/>
                </a:solidFill>
                <a:latin typeface="Calibri"/>
              </a:rPr>
              <a:t>✗  Discard — RMSE worsens → revert</a:t>
            </a:r>
          </a:p>
          <a:p>
            <a:pPr algn="l"/>
            <a:r>
              <a:rPr sz="1500" b="1">
                <a:solidFill>
                  <a:srgbClr val="F5A623"/>
                </a:solidFill>
                <a:latin typeface="Calibri"/>
              </a:rPr>
              <a:t>⚡  Crash   — code fails → revert + log</a:t>
            </a:r>
          </a:p>
          <a:p>
            <a:pPr algn="l"/>
            <a:r>
              <a:rPr sz="800" b="0">
                <a:solidFill>
                  <a:srgbClr val="1A1A1A"/>
                </a:solidFill>
                <a:latin typeface="Calibri"/>
              </a:rPr>
              <a:t/>
            </a:r>
          </a:p>
          <a:p>
            <a:pPr algn="l"/>
            <a:r>
              <a:rPr sz="1400" b="1">
                <a:solidFill>
                  <a:srgbClr val="1A1A1A"/>
                </a:solidFill>
                <a:latin typeface="Calibri"/>
              </a:rPr>
              <a:t>Constraints:</a:t>
            </a:r>
          </a:p>
          <a:p>
            <a:pPr algn="l"/>
            <a:r>
              <a:rPr sz="1400" b="0">
                <a:solidFill>
                  <a:srgbClr val="555555"/>
                </a:solidFill>
                <a:latin typeface="Calibri"/>
              </a:rPr>
              <a:t>• Frozen train/validation/test split (60/20/20)</a:t>
            </a:r>
          </a:p>
          <a:p>
            <a:pPr algn="l"/>
            <a:r>
              <a:rPr sz="1400" b="0">
                <a:solidFill>
                  <a:srgbClr val="555555"/>
                </a:solidFill>
                <a:latin typeface="Calibri"/>
              </a:rPr>
              <a:t>• Fixed random_state = 42 throughout</a:t>
            </a:r>
          </a:p>
          <a:p>
            <a:pPr algn="l"/>
            <a:r>
              <a:rPr sz="1400" b="0">
                <a:solidFill>
                  <a:srgbClr val="555555"/>
                </a:solidFill>
                <a:latin typeface="Calibri"/>
              </a:rPr>
              <a:t>• No external data, no neural architectures</a:t>
            </a:r>
          </a:p>
          <a:p>
            <a:pPr algn="l"/>
            <a:r>
              <a:rPr sz="1400" b="0">
                <a:solidFill>
                  <a:srgbClr val="555555"/>
                </a:solidFill>
                <a:latin typeface="Calibri"/>
              </a:rPr>
              <a:t>• Test set untouched during all 16 experiments</a:t>
            </a:r>
          </a:p>
          <a:p>
            <a:pPr algn="l"/>
            <a:r>
              <a:rPr sz="1400" b="0">
                <a:solidFill>
                  <a:srgbClr val="555555"/>
                </a:solidFill>
                <a:latin typeface="Calibri"/>
              </a:rPr>
              <a:t>• Evaluation logic in run.py is frozen</a:t>
            </a:r>
          </a:p>
          <a:p>
            <a:pPr algn="l"/>
            <a:r>
              <a:rPr sz="800" b="0">
                <a:solidFill>
                  <a:srgbClr val="1A1A1A"/>
                </a:solidFill>
                <a:latin typeface="Calibri"/>
              </a:rPr>
              <a:t/>
            </a:r>
          </a:p>
          <a:p>
            <a:pPr algn="l"/>
            <a:r>
              <a:rPr sz="1500" b="1">
                <a:solidFill>
                  <a:srgbClr val="1A1A1A"/>
                </a:solidFill>
                <a:latin typeface="Calibri"/>
              </a:rPr>
              <a:t>16 experiments · 5 active weeks · 0 crashes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029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56032"/>
            <a:ext cx="11430000" cy="777240"/>
          </a:xfrm>
          <a:prstGeom prst="rect">
            <a:avLst/>
          </a:prstGeom>
          <a:noFill/>
        </p:spPr>
        <p:txBody>
          <a:bodyPr wrap="square">
            <a:spAutoFit/>
          </a:bodyPr>
          <a:lstStyle/>
          <a:p>
            <a:pPr algn="l"/>
            <a:r>
              <a:rPr sz="3200" b="1" i="0">
                <a:solidFill>
                  <a:srgbClr val="FFFFFF"/>
                </a:solidFill>
                <a:latin typeface="Calibri"/>
              </a:rPr>
              <a:t>Directions Explored</a:t>
            </a:r>
          </a:p>
        </p:txBody>
      </p:sp>
      <p:sp>
        <p:nvSpPr>
          <p:cNvPr id="6" name="TextBox 5"/>
          <p:cNvSpPr txBox="1"/>
          <p:nvPr/>
        </p:nvSpPr>
        <p:spPr>
          <a:xfrm>
            <a:off x="411480" y="868680"/>
            <a:ext cx="11430000" cy="411480"/>
          </a:xfrm>
          <a:prstGeom prst="rect">
            <a:avLst/>
          </a:prstGeom>
          <a:noFill/>
        </p:spPr>
        <p:txBody>
          <a:bodyPr wrap="square">
            <a:spAutoFit/>
          </a:bodyPr>
          <a:lstStyle/>
          <a:p>
            <a:pPr algn="l"/>
            <a:r>
              <a:rPr sz="1500" b="0" i="0">
                <a:solidFill>
                  <a:srgbClr val="1DB954"/>
                </a:solidFill>
                <a:latin typeface="Calibri"/>
              </a:rPr>
              <a:t>What the loop tried across 16 experiments</a:t>
            </a:r>
          </a:p>
        </p:txBody>
      </p:sp>
      <p:pic>
        <p:nvPicPr>
          <p:cNvPr id="7" name="Picture 6" descr="metric_trajectory.png"/>
          <p:cNvPicPr>
            <a:picLocks noChangeAspect="1"/>
          </p:cNvPicPr>
          <p:nvPr/>
        </p:nvPicPr>
        <p:blipFill>
          <a:blip r:embed="rId2"/>
          <a:stretch>
            <a:fillRect/>
          </a:stretch>
        </p:blipFill>
        <p:spPr>
          <a:xfrm>
            <a:off x="4937760" y="1371600"/>
            <a:ext cx="6949440" cy="2940148"/>
          </a:xfrm>
          <a:prstGeom prst="rect">
            <a:avLst/>
          </a:prstGeom>
        </p:spPr>
      </p:pic>
      <p:sp>
        <p:nvSpPr>
          <p:cNvPr id="8" name="Rectangle 7"/>
          <p:cNvSpPr/>
          <p:nvPr/>
        </p:nvSpPr>
        <p:spPr>
          <a:xfrm>
            <a:off x="365760" y="1463040"/>
            <a:ext cx="4297680" cy="41148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08760"/>
            <a:ext cx="2468880" cy="411480"/>
          </a:xfrm>
          <a:prstGeom prst="rect">
            <a:avLst/>
          </a:prstGeom>
          <a:noFill/>
        </p:spPr>
        <p:txBody>
          <a:bodyPr wrap="square">
            <a:spAutoFit/>
          </a:bodyPr>
          <a:lstStyle/>
          <a:p>
            <a:pPr algn="l"/>
            <a:r>
              <a:rPr sz="1300" b="1" i="0">
                <a:solidFill>
                  <a:srgbClr val="FFFFFF"/>
                </a:solidFill>
                <a:latin typeface="Calibri"/>
              </a:rPr>
              <a:t>Direction</a:t>
            </a:r>
          </a:p>
        </p:txBody>
      </p:sp>
      <p:sp>
        <p:nvSpPr>
          <p:cNvPr id="10" name="TextBox 9"/>
          <p:cNvSpPr txBox="1"/>
          <p:nvPr/>
        </p:nvSpPr>
        <p:spPr>
          <a:xfrm>
            <a:off x="2971800" y="1508760"/>
            <a:ext cx="1645920" cy="411480"/>
          </a:xfrm>
          <a:prstGeom prst="rect">
            <a:avLst/>
          </a:prstGeom>
          <a:noFill/>
        </p:spPr>
        <p:txBody>
          <a:bodyPr wrap="square">
            <a:spAutoFit/>
          </a:bodyPr>
          <a:lstStyle/>
          <a:p>
            <a:pPr algn="l"/>
            <a:r>
              <a:rPr sz="1300" b="1" i="0">
                <a:solidFill>
                  <a:srgbClr val="FFFFFF"/>
                </a:solidFill>
                <a:latin typeface="Calibri"/>
              </a:rPr>
              <a:t>Outcome</a:t>
            </a:r>
          </a:p>
        </p:txBody>
      </p:sp>
      <p:sp>
        <p:nvSpPr>
          <p:cNvPr id="11" name="Rectangle 10"/>
          <p:cNvSpPr/>
          <p:nvPr/>
        </p:nvSpPr>
        <p:spPr>
          <a:xfrm>
            <a:off x="365760" y="1874520"/>
            <a:ext cx="42976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17520" y="1938528"/>
            <a:ext cx="1417320" cy="3474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947672"/>
            <a:ext cx="2468880" cy="384048"/>
          </a:xfrm>
          <a:prstGeom prst="rect">
            <a:avLst/>
          </a:prstGeom>
          <a:noFill/>
        </p:spPr>
        <p:txBody>
          <a:bodyPr wrap="square">
            <a:spAutoFit/>
          </a:bodyPr>
          <a:lstStyle/>
          <a:p>
            <a:pPr algn="l"/>
            <a:r>
              <a:rPr sz="1300" b="0" i="0">
                <a:solidFill>
                  <a:srgbClr val="1A1A1A"/>
                </a:solidFill>
                <a:latin typeface="Calibri"/>
              </a:rPr>
              <a:t>RF adoption</a:t>
            </a:r>
          </a:p>
        </p:txBody>
      </p:sp>
      <p:sp>
        <p:nvSpPr>
          <p:cNvPr id="14" name="TextBox 13"/>
          <p:cNvSpPr txBox="1"/>
          <p:nvPr/>
        </p:nvSpPr>
        <p:spPr>
          <a:xfrm>
            <a:off x="3063240" y="1947672"/>
            <a:ext cx="1325880" cy="384048"/>
          </a:xfrm>
          <a:prstGeom prst="rect">
            <a:avLst/>
          </a:prstGeom>
          <a:noFill/>
        </p:spPr>
        <p:txBody>
          <a:bodyPr wrap="square">
            <a:spAutoFit/>
          </a:bodyPr>
          <a:lstStyle/>
          <a:p>
            <a:pPr algn="l"/>
            <a:r>
              <a:rPr sz="1200" b="1" i="0">
                <a:solidFill>
                  <a:srgbClr val="FFFFFF"/>
                </a:solidFill>
                <a:latin typeface="Calibri"/>
              </a:rPr>
              <a:t>Major gain</a:t>
            </a:r>
          </a:p>
        </p:txBody>
      </p:sp>
      <p:sp>
        <p:nvSpPr>
          <p:cNvPr id="15" name="Rectangle 14"/>
          <p:cNvSpPr/>
          <p:nvPr/>
        </p:nvSpPr>
        <p:spPr>
          <a:xfrm>
            <a:off x="365760" y="2350008"/>
            <a:ext cx="4297680" cy="47548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17520" y="2414016"/>
            <a:ext cx="1417320"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423160"/>
            <a:ext cx="2468880" cy="384048"/>
          </a:xfrm>
          <a:prstGeom prst="rect">
            <a:avLst/>
          </a:prstGeom>
          <a:noFill/>
        </p:spPr>
        <p:txBody>
          <a:bodyPr wrap="square">
            <a:spAutoFit/>
          </a:bodyPr>
          <a:lstStyle/>
          <a:p>
            <a:pPr algn="l"/>
            <a:r>
              <a:rPr sz="1300" b="0" i="0">
                <a:solidFill>
                  <a:srgbClr val="1A1A1A"/>
                </a:solidFill>
                <a:latin typeface="Calibri"/>
              </a:rPr>
              <a:t>Hyperparameter tuning</a:t>
            </a:r>
          </a:p>
        </p:txBody>
      </p:sp>
      <p:sp>
        <p:nvSpPr>
          <p:cNvPr id="18" name="TextBox 17"/>
          <p:cNvSpPr txBox="1"/>
          <p:nvPr/>
        </p:nvSpPr>
        <p:spPr>
          <a:xfrm>
            <a:off x="3063240" y="2423160"/>
            <a:ext cx="1325880" cy="384048"/>
          </a:xfrm>
          <a:prstGeom prst="rect">
            <a:avLst/>
          </a:prstGeom>
          <a:noFill/>
        </p:spPr>
        <p:txBody>
          <a:bodyPr wrap="square">
            <a:spAutoFit/>
          </a:bodyPr>
          <a:lstStyle/>
          <a:p>
            <a:pPr algn="l"/>
            <a:r>
              <a:rPr sz="1200" b="1" i="0">
                <a:solidFill>
                  <a:srgbClr val="FFFFFF"/>
                </a:solidFill>
                <a:latin typeface="Calibri"/>
              </a:rPr>
              <a:t>Diminishing</a:t>
            </a:r>
          </a:p>
        </p:txBody>
      </p:sp>
      <p:sp>
        <p:nvSpPr>
          <p:cNvPr id="19" name="Rectangle 18"/>
          <p:cNvSpPr/>
          <p:nvPr/>
        </p:nvSpPr>
        <p:spPr>
          <a:xfrm>
            <a:off x="365760" y="2825496"/>
            <a:ext cx="42976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017520" y="2889504"/>
            <a:ext cx="1417320" cy="347472"/>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898648"/>
            <a:ext cx="2468880" cy="384048"/>
          </a:xfrm>
          <a:prstGeom prst="rect">
            <a:avLst/>
          </a:prstGeom>
          <a:noFill/>
        </p:spPr>
        <p:txBody>
          <a:bodyPr wrap="square">
            <a:spAutoFit/>
          </a:bodyPr>
          <a:lstStyle/>
          <a:p>
            <a:pPr algn="l"/>
            <a:r>
              <a:rPr sz="1300" b="0" i="0">
                <a:solidFill>
                  <a:srgbClr val="1A1A1A"/>
                </a:solidFill>
                <a:latin typeface="Calibri"/>
              </a:rPr>
              <a:t>Feature engineering</a:t>
            </a:r>
          </a:p>
        </p:txBody>
      </p:sp>
      <p:sp>
        <p:nvSpPr>
          <p:cNvPr id="22" name="TextBox 21"/>
          <p:cNvSpPr txBox="1"/>
          <p:nvPr/>
        </p:nvSpPr>
        <p:spPr>
          <a:xfrm>
            <a:off x="3063240" y="2898648"/>
            <a:ext cx="1325880" cy="384048"/>
          </a:xfrm>
          <a:prstGeom prst="rect">
            <a:avLst/>
          </a:prstGeom>
          <a:noFill/>
        </p:spPr>
        <p:txBody>
          <a:bodyPr wrap="square">
            <a:spAutoFit/>
          </a:bodyPr>
          <a:lstStyle/>
          <a:p>
            <a:pPr algn="l"/>
            <a:r>
              <a:rPr sz="1200" b="1" i="0">
                <a:solidFill>
                  <a:srgbClr val="FFFFFF"/>
                </a:solidFill>
                <a:latin typeface="Calibri"/>
              </a:rPr>
              <a:t>Minimal gain</a:t>
            </a:r>
          </a:p>
        </p:txBody>
      </p:sp>
      <p:sp>
        <p:nvSpPr>
          <p:cNvPr id="23" name="Rectangle 22"/>
          <p:cNvSpPr/>
          <p:nvPr/>
        </p:nvSpPr>
        <p:spPr>
          <a:xfrm>
            <a:off x="365760" y="3300984"/>
            <a:ext cx="4297680" cy="47548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017520" y="3364992"/>
            <a:ext cx="1417320" cy="347472"/>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374136"/>
            <a:ext cx="2468880" cy="384048"/>
          </a:xfrm>
          <a:prstGeom prst="rect">
            <a:avLst/>
          </a:prstGeom>
          <a:noFill/>
        </p:spPr>
        <p:txBody>
          <a:bodyPr wrap="square">
            <a:spAutoFit/>
          </a:bodyPr>
          <a:lstStyle/>
          <a:p>
            <a:pPr algn="l"/>
            <a:r>
              <a:rPr sz="1300" b="0" i="0">
                <a:solidFill>
                  <a:srgbClr val="1A1A1A"/>
                </a:solidFill>
                <a:latin typeface="Calibri"/>
              </a:rPr>
              <a:t>Alt. model families</a:t>
            </a:r>
          </a:p>
        </p:txBody>
      </p:sp>
      <p:sp>
        <p:nvSpPr>
          <p:cNvPr id="26" name="TextBox 25"/>
          <p:cNvSpPr txBox="1"/>
          <p:nvPr/>
        </p:nvSpPr>
        <p:spPr>
          <a:xfrm>
            <a:off x="3063240" y="3374136"/>
            <a:ext cx="1325880" cy="384048"/>
          </a:xfrm>
          <a:prstGeom prst="rect">
            <a:avLst/>
          </a:prstGeom>
          <a:noFill/>
        </p:spPr>
        <p:txBody>
          <a:bodyPr wrap="square">
            <a:spAutoFit/>
          </a:bodyPr>
          <a:lstStyle/>
          <a:p>
            <a:pPr algn="l"/>
            <a:r>
              <a:rPr sz="1200" b="1" i="0">
                <a:solidFill>
                  <a:srgbClr val="FFFFFF"/>
                </a:solidFill>
                <a:latin typeface="Calibri"/>
              </a:rPr>
              <a:t>Discarded</a:t>
            </a:r>
          </a:p>
        </p:txBody>
      </p:sp>
      <p:sp>
        <p:nvSpPr>
          <p:cNvPr id="27" name="Rectangle 26"/>
          <p:cNvSpPr/>
          <p:nvPr/>
        </p:nvSpPr>
        <p:spPr>
          <a:xfrm>
            <a:off x="365760" y="3776472"/>
            <a:ext cx="42976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017520" y="3840480"/>
            <a:ext cx="1417320" cy="34747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849624"/>
            <a:ext cx="2468880" cy="384048"/>
          </a:xfrm>
          <a:prstGeom prst="rect">
            <a:avLst/>
          </a:prstGeom>
          <a:noFill/>
        </p:spPr>
        <p:txBody>
          <a:bodyPr wrap="square">
            <a:spAutoFit/>
          </a:bodyPr>
          <a:lstStyle/>
          <a:p>
            <a:pPr algn="l"/>
            <a:r>
              <a:rPr sz="1300" b="0" i="0">
                <a:solidFill>
                  <a:srgbClr val="1A1A1A"/>
                </a:solidFill>
                <a:latin typeface="Calibri"/>
              </a:rPr>
              <a:t>Popularity bucket</a:t>
            </a:r>
          </a:p>
        </p:txBody>
      </p:sp>
      <p:sp>
        <p:nvSpPr>
          <p:cNvPr id="30" name="TextBox 29"/>
          <p:cNvSpPr txBox="1"/>
          <p:nvPr/>
        </p:nvSpPr>
        <p:spPr>
          <a:xfrm>
            <a:off x="3063240" y="3849624"/>
            <a:ext cx="1325880" cy="384048"/>
          </a:xfrm>
          <a:prstGeom prst="rect">
            <a:avLst/>
          </a:prstGeom>
          <a:noFill/>
        </p:spPr>
        <p:txBody>
          <a:bodyPr wrap="square">
            <a:spAutoFit/>
          </a:bodyPr>
          <a:lstStyle/>
          <a:p>
            <a:pPr algn="l"/>
            <a:r>
              <a:rPr sz="1200" b="1" i="0">
                <a:solidFill>
                  <a:srgbClr val="FFFFFF"/>
                </a:solidFill>
                <a:latin typeface="Calibri"/>
              </a:rPr>
              <a:t>Key insight</a:t>
            </a:r>
          </a:p>
        </p:txBody>
      </p:sp>
      <p:sp>
        <p:nvSpPr>
          <p:cNvPr id="31" name="Rectangle 30"/>
          <p:cNvSpPr/>
          <p:nvPr/>
        </p:nvSpPr>
        <p:spPr>
          <a:xfrm>
            <a:off x="365760" y="4251960"/>
            <a:ext cx="4297680" cy="47548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017520" y="4315968"/>
            <a:ext cx="1417320" cy="34747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4325112"/>
            <a:ext cx="2468880" cy="384048"/>
          </a:xfrm>
          <a:prstGeom prst="rect">
            <a:avLst/>
          </a:prstGeom>
          <a:noFill/>
        </p:spPr>
        <p:txBody>
          <a:bodyPr wrap="square">
            <a:spAutoFit/>
          </a:bodyPr>
          <a:lstStyle/>
          <a:p>
            <a:pPr algn="l"/>
            <a:r>
              <a:rPr sz="1300" b="0" i="0">
                <a:solidFill>
                  <a:srgbClr val="1A1A1A"/>
                </a:solidFill>
                <a:latin typeface="Calibri"/>
              </a:rPr>
              <a:t>Feature bucket</a:t>
            </a:r>
          </a:p>
        </p:txBody>
      </p:sp>
      <p:sp>
        <p:nvSpPr>
          <p:cNvPr id="34" name="TextBox 33"/>
          <p:cNvSpPr txBox="1"/>
          <p:nvPr/>
        </p:nvSpPr>
        <p:spPr>
          <a:xfrm>
            <a:off x="3063240" y="4325112"/>
            <a:ext cx="1325880" cy="384048"/>
          </a:xfrm>
          <a:prstGeom prst="rect">
            <a:avLst/>
          </a:prstGeom>
          <a:noFill/>
        </p:spPr>
        <p:txBody>
          <a:bodyPr wrap="square">
            <a:spAutoFit/>
          </a:bodyPr>
          <a:lstStyle/>
          <a:p>
            <a:pPr algn="l"/>
            <a:r>
              <a:rPr sz="1200" b="1" i="0">
                <a:solidFill>
                  <a:srgbClr val="FFFFFF"/>
                </a:solidFill>
                <a:latin typeface="Calibri"/>
              </a:rPr>
              <a:t>Key insight</a:t>
            </a:r>
          </a:p>
        </p:txBody>
      </p:sp>
      <p:sp>
        <p:nvSpPr>
          <p:cNvPr id="35" name="Rectangle 34"/>
          <p:cNvSpPr/>
          <p:nvPr/>
        </p:nvSpPr>
        <p:spPr>
          <a:xfrm>
            <a:off x="365760" y="4727448"/>
            <a:ext cx="429768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017520" y="4791456"/>
            <a:ext cx="1417320" cy="34747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800600"/>
            <a:ext cx="2468880" cy="384048"/>
          </a:xfrm>
          <a:prstGeom prst="rect">
            <a:avLst/>
          </a:prstGeom>
          <a:noFill/>
        </p:spPr>
        <p:txBody>
          <a:bodyPr wrap="square">
            <a:spAutoFit/>
          </a:bodyPr>
          <a:lstStyle/>
          <a:p>
            <a:pPr algn="l"/>
            <a:r>
              <a:rPr sz="1300" b="0" i="0">
                <a:solidFill>
                  <a:srgbClr val="1A1A1A"/>
                </a:solidFill>
                <a:latin typeface="Calibri"/>
              </a:rPr>
              <a:t>Index artifact</a:t>
            </a:r>
          </a:p>
        </p:txBody>
      </p:sp>
      <p:sp>
        <p:nvSpPr>
          <p:cNvPr id="38" name="TextBox 37"/>
          <p:cNvSpPr txBox="1"/>
          <p:nvPr/>
        </p:nvSpPr>
        <p:spPr>
          <a:xfrm>
            <a:off x="3063240" y="4800600"/>
            <a:ext cx="1325880" cy="384048"/>
          </a:xfrm>
          <a:prstGeom prst="rect">
            <a:avLst/>
          </a:prstGeom>
          <a:noFill/>
        </p:spPr>
        <p:txBody>
          <a:bodyPr wrap="square">
            <a:spAutoFit/>
          </a:bodyPr>
          <a:lstStyle/>
          <a:p>
            <a:pPr algn="l"/>
            <a:r>
              <a:rPr sz="1200" b="1" i="0">
                <a:solidFill>
                  <a:srgbClr val="FFFFFF"/>
                </a:solidFill>
                <a:latin typeface="Calibri"/>
              </a:rPr>
              <a:t>Key insight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029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56032"/>
            <a:ext cx="11430000" cy="777240"/>
          </a:xfrm>
          <a:prstGeom prst="rect">
            <a:avLst/>
          </a:prstGeom>
          <a:noFill/>
        </p:spPr>
        <p:txBody>
          <a:bodyPr wrap="square">
            <a:spAutoFit/>
          </a:bodyPr>
          <a:lstStyle/>
          <a:p>
            <a:pPr algn="l"/>
            <a:r>
              <a:rPr sz="3200" b="1" i="0">
                <a:solidFill>
                  <a:srgbClr val="FFFFFF"/>
                </a:solidFill>
                <a:latin typeface="Calibri"/>
              </a:rPr>
              <a:t>Stable Value</a:t>
            </a:r>
          </a:p>
        </p:txBody>
      </p:sp>
      <p:sp>
        <p:nvSpPr>
          <p:cNvPr id="6" name="TextBox 5"/>
          <p:cNvSpPr txBox="1"/>
          <p:nvPr/>
        </p:nvSpPr>
        <p:spPr>
          <a:xfrm>
            <a:off x="411480" y="868680"/>
            <a:ext cx="11430000" cy="411480"/>
          </a:xfrm>
          <a:prstGeom prst="rect">
            <a:avLst/>
          </a:prstGeom>
          <a:noFill/>
        </p:spPr>
        <p:txBody>
          <a:bodyPr wrap="square">
            <a:spAutoFit/>
          </a:bodyPr>
          <a:lstStyle/>
          <a:p>
            <a:pPr algn="l"/>
            <a:r>
              <a:rPr sz="1500" b="0" i="0">
                <a:solidFill>
                  <a:srgbClr val="1DB954"/>
                </a:solidFill>
                <a:latin typeface="Calibri"/>
              </a:rPr>
              <a:t>What produced real, reproducible improvement</a:t>
            </a:r>
          </a:p>
        </p:txBody>
      </p:sp>
      <p:pic>
        <p:nvPicPr>
          <p:cNvPr id="7" name="Picture 6" descr="metric_over_time.png"/>
          <p:cNvPicPr>
            <a:picLocks noChangeAspect="1"/>
          </p:cNvPicPr>
          <p:nvPr/>
        </p:nvPicPr>
        <p:blipFill>
          <a:blip r:embed="rId2"/>
          <a:stretch>
            <a:fillRect/>
          </a:stretch>
        </p:blipFill>
        <p:spPr>
          <a:xfrm>
            <a:off x="320040" y="1371600"/>
            <a:ext cx="6400800" cy="3657600"/>
          </a:xfrm>
          <a:prstGeom prst="rect">
            <a:avLst/>
          </a:prstGeom>
        </p:spPr>
      </p:pic>
      <p:sp>
        <p:nvSpPr>
          <p:cNvPr id="8" name="Rectangle 7"/>
          <p:cNvSpPr/>
          <p:nvPr/>
        </p:nvSpPr>
        <p:spPr>
          <a:xfrm>
            <a:off x="7040880" y="1417320"/>
            <a:ext cx="4892040" cy="13716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78040" y="1508760"/>
            <a:ext cx="4617720" cy="640080"/>
          </a:xfrm>
          <a:prstGeom prst="rect">
            <a:avLst/>
          </a:prstGeom>
          <a:noFill/>
        </p:spPr>
        <p:txBody>
          <a:bodyPr wrap="square">
            <a:spAutoFit/>
          </a:bodyPr>
          <a:lstStyle/>
          <a:p>
            <a:pPr algn="ctr"/>
            <a:r>
              <a:rPr sz="3000" b="1" i="0">
                <a:solidFill>
                  <a:srgbClr val="FFFFFF"/>
                </a:solidFill>
                <a:latin typeface="Calibri"/>
              </a:rPr>
              <a:t>31.9% RMSE reduction</a:t>
            </a:r>
          </a:p>
        </p:txBody>
      </p:sp>
      <p:sp>
        <p:nvSpPr>
          <p:cNvPr id="10" name="TextBox 9"/>
          <p:cNvSpPr txBox="1"/>
          <p:nvPr/>
        </p:nvSpPr>
        <p:spPr>
          <a:xfrm>
            <a:off x="7178040" y="2148840"/>
            <a:ext cx="4617720" cy="502920"/>
          </a:xfrm>
          <a:prstGeom prst="rect">
            <a:avLst/>
          </a:prstGeom>
          <a:noFill/>
        </p:spPr>
        <p:txBody>
          <a:bodyPr wrap="square">
            <a:spAutoFit/>
          </a:bodyPr>
          <a:lstStyle/>
          <a:p>
            <a:pPr algn="ctr"/>
            <a:r>
              <a:rPr sz="1700" b="0" i="0">
                <a:solidFill>
                  <a:srgbClr val="FFFFFF"/>
                </a:solidFill>
                <a:latin typeface="Calibri"/>
              </a:rPr>
              <a:t>One architectural decision</a:t>
            </a:r>
          </a:p>
        </p:txBody>
      </p:sp>
      <p:sp>
        <p:nvSpPr>
          <p:cNvPr id="11" name="Rectangle 10"/>
          <p:cNvSpPr/>
          <p:nvPr/>
        </p:nvSpPr>
        <p:spPr>
          <a:xfrm>
            <a:off x="7040880" y="2926080"/>
            <a:ext cx="4892040" cy="868680"/>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2999232"/>
            <a:ext cx="2935224" cy="365760"/>
          </a:xfrm>
          <a:prstGeom prst="rect">
            <a:avLst/>
          </a:prstGeom>
          <a:noFill/>
        </p:spPr>
        <p:txBody>
          <a:bodyPr wrap="square">
            <a:spAutoFit/>
          </a:bodyPr>
          <a:lstStyle/>
          <a:p>
            <a:pPr algn="l"/>
            <a:r>
              <a:rPr sz="1500" b="1" i="0">
                <a:solidFill>
                  <a:srgbClr val="FFFFFF"/>
                </a:solidFill>
                <a:latin typeface="Calibri"/>
              </a:rPr>
              <a:t>Linear Regression  (baseline)</a:t>
            </a:r>
          </a:p>
        </p:txBody>
      </p:sp>
      <p:sp>
        <p:nvSpPr>
          <p:cNvPr id="13" name="TextBox 12"/>
          <p:cNvSpPr txBox="1"/>
          <p:nvPr/>
        </p:nvSpPr>
        <p:spPr>
          <a:xfrm>
            <a:off x="10073944" y="2999232"/>
            <a:ext cx="1712214" cy="365760"/>
          </a:xfrm>
          <a:prstGeom prst="rect">
            <a:avLst/>
          </a:prstGeom>
          <a:noFill/>
        </p:spPr>
        <p:txBody>
          <a:bodyPr wrap="square">
            <a:spAutoFit/>
          </a:bodyPr>
          <a:lstStyle/>
          <a:p>
            <a:pPr algn="r"/>
            <a:r>
              <a:rPr sz="2200" b="1" i="0">
                <a:solidFill>
                  <a:srgbClr val="FFFFFF"/>
                </a:solidFill>
                <a:latin typeface="Calibri"/>
              </a:rPr>
              <a:t>RMSE 22.06</a:t>
            </a:r>
          </a:p>
        </p:txBody>
      </p:sp>
      <p:sp>
        <p:nvSpPr>
          <p:cNvPr id="14" name="Rectangle 13"/>
          <p:cNvSpPr/>
          <p:nvPr/>
        </p:nvSpPr>
        <p:spPr>
          <a:xfrm>
            <a:off x="7040880" y="3886200"/>
            <a:ext cx="4892040" cy="8686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3959352"/>
            <a:ext cx="2935224" cy="365760"/>
          </a:xfrm>
          <a:prstGeom prst="rect">
            <a:avLst/>
          </a:prstGeom>
          <a:noFill/>
        </p:spPr>
        <p:txBody>
          <a:bodyPr wrap="square">
            <a:spAutoFit/>
          </a:bodyPr>
          <a:lstStyle/>
          <a:p>
            <a:pPr algn="l"/>
            <a:r>
              <a:rPr sz="1500" b="1" i="0">
                <a:solidFill>
                  <a:srgbClr val="FFFFFF"/>
                </a:solidFill>
                <a:latin typeface="Calibri"/>
              </a:rPr>
              <a:t>Random Forest  (final model)</a:t>
            </a:r>
          </a:p>
        </p:txBody>
      </p:sp>
      <p:sp>
        <p:nvSpPr>
          <p:cNvPr id="16" name="TextBox 15"/>
          <p:cNvSpPr txBox="1"/>
          <p:nvPr/>
        </p:nvSpPr>
        <p:spPr>
          <a:xfrm>
            <a:off x="10073944" y="3959352"/>
            <a:ext cx="1712214" cy="365760"/>
          </a:xfrm>
          <a:prstGeom prst="rect">
            <a:avLst/>
          </a:prstGeom>
          <a:noFill/>
        </p:spPr>
        <p:txBody>
          <a:bodyPr wrap="square">
            <a:spAutoFit/>
          </a:bodyPr>
          <a:lstStyle/>
          <a:p>
            <a:pPr algn="r"/>
            <a:r>
              <a:rPr sz="2200" b="1" i="0">
                <a:solidFill>
                  <a:srgbClr val="FFFFFF"/>
                </a:solidFill>
                <a:latin typeface="Calibri"/>
              </a:rPr>
              <a:t>RMSE 15.72</a:t>
            </a:r>
          </a:p>
        </p:txBody>
      </p:sp>
      <p:sp>
        <p:nvSpPr>
          <p:cNvPr id="17" name="TextBox 16"/>
          <p:cNvSpPr txBox="1"/>
          <p:nvPr/>
        </p:nvSpPr>
        <p:spPr>
          <a:xfrm>
            <a:off x="7040880" y="5074920"/>
            <a:ext cx="2152497" cy="548640"/>
          </a:xfrm>
          <a:prstGeom prst="rect">
            <a:avLst/>
          </a:prstGeom>
          <a:noFill/>
        </p:spPr>
        <p:txBody>
          <a:bodyPr wrap="square">
            <a:spAutoFit/>
          </a:bodyPr>
          <a:lstStyle/>
          <a:p>
            <a:pPr algn="l"/>
            <a:r>
              <a:rPr sz="1500" b="1" i="0">
                <a:solidFill>
                  <a:srgbClr val="1A1A1A"/>
                </a:solidFill>
                <a:latin typeface="Calibri"/>
              </a:rPr>
              <a:t>99% of total gain</a:t>
            </a:r>
          </a:p>
        </p:txBody>
      </p:sp>
      <p:sp>
        <p:nvSpPr>
          <p:cNvPr id="18" name="TextBox 17"/>
          <p:cNvSpPr txBox="1"/>
          <p:nvPr/>
        </p:nvSpPr>
        <p:spPr>
          <a:xfrm>
            <a:off x="9242298" y="5074920"/>
            <a:ext cx="2690622" cy="548640"/>
          </a:xfrm>
          <a:prstGeom prst="rect">
            <a:avLst/>
          </a:prstGeom>
          <a:noFill/>
        </p:spPr>
        <p:txBody>
          <a:bodyPr wrap="square">
            <a:spAutoFit/>
          </a:bodyPr>
          <a:lstStyle/>
          <a:p>
            <a:pPr algn="l"/>
            <a:r>
              <a:rPr sz="1400" b="0" i="0">
                <a:solidFill>
                  <a:srgbClr val="555555"/>
                </a:solidFill>
                <a:latin typeface="Calibri"/>
              </a:rPr>
              <a:t>from the model-family switch alone</a:t>
            </a:r>
          </a:p>
        </p:txBody>
      </p:sp>
      <p:sp>
        <p:nvSpPr>
          <p:cNvPr id="19" name="TextBox 18"/>
          <p:cNvSpPr txBox="1"/>
          <p:nvPr/>
        </p:nvSpPr>
        <p:spPr>
          <a:xfrm>
            <a:off x="7040880" y="5733288"/>
            <a:ext cx="2152497" cy="548640"/>
          </a:xfrm>
          <a:prstGeom prst="rect">
            <a:avLst/>
          </a:prstGeom>
          <a:noFill/>
        </p:spPr>
        <p:txBody>
          <a:bodyPr wrap="square">
            <a:spAutoFit/>
          </a:bodyPr>
          <a:lstStyle/>
          <a:p>
            <a:pPr algn="l"/>
            <a:r>
              <a:rPr sz="1500" b="1" i="0">
                <a:solidFill>
                  <a:srgbClr val="1A1A1A"/>
                </a:solidFill>
                <a:latin typeface="Calibri"/>
              </a:rPr>
              <a:t>0.06 RMSE units</a:t>
            </a:r>
          </a:p>
        </p:txBody>
      </p:sp>
      <p:sp>
        <p:nvSpPr>
          <p:cNvPr id="20" name="TextBox 19"/>
          <p:cNvSpPr txBox="1"/>
          <p:nvPr/>
        </p:nvSpPr>
        <p:spPr>
          <a:xfrm>
            <a:off x="9242298" y="5733288"/>
            <a:ext cx="2690622" cy="548640"/>
          </a:xfrm>
          <a:prstGeom prst="rect">
            <a:avLst/>
          </a:prstGeom>
          <a:noFill/>
        </p:spPr>
        <p:txBody>
          <a:bodyPr wrap="square">
            <a:spAutoFit/>
          </a:bodyPr>
          <a:lstStyle/>
          <a:p>
            <a:pPr algn="l"/>
            <a:r>
              <a:rPr sz="1400" b="0" i="0">
                <a:solidFill>
                  <a:srgbClr val="555555"/>
                </a:solidFill>
                <a:latin typeface="Calibri"/>
              </a:rPr>
              <a:t>from all 12 post-RF experiments combined</a:t>
            </a:r>
          </a:p>
        </p:txBody>
      </p:sp>
      <p:sp>
        <p:nvSpPr>
          <p:cNvPr id="21" name="TextBox 20"/>
          <p:cNvSpPr txBox="1"/>
          <p:nvPr/>
        </p:nvSpPr>
        <p:spPr>
          <a:xfrm>
            <a:off x="7040880" y="6391656"/>
            <a:ext cx="2152497" cy="548640"/>
          </a:xfrm>
          <a:prstGeom prst="rect">
            <a:avLst/>
          </a:prstGeom>
          <a:noFill/>
        </p:spPr>
        <p:txBody>
          <a:bodyPr wrap="square">
            <a:spAutoFit/>
          </a:bodyPr>
          <a:lstStyle/>
          <a:p>
            <a:pPr algn="l"/>
            <a:r>
              <a:rPr sz="1500" b="1" i="0">
                <a:solidFill>
                  <a:srgbClr val="1A1A1A"/>
                </a:solidFill>
                <a:latin typeface="Calibri"/>
              </a:rPr>
              <a:t>n_estimators 100→300</a:t>
            </a:r>
          </a:p>
        </p:txBody>
      </p:sp>
      <p:sp>
        <p:nvSpPr>
          <p:cNvPr id="22" name="TextBox 21"/>
          <p:cNvSpPr txBox="1"/>
          <p:nvPr/>
        </p:nvSpPr>
        <p:spPr>
          <a:xfrm>
            <a:off x="9242298" y="6391656"/>
            <a:ext cx="2690622" cy="548640"/>
          </a:xfrm>
          <a:prstGeom prst="rect">
            <a:avLst/>
          </a:prstGeom>
          <a:noFill/>
        </p:spPr>
        <p:txBody>
          <a:bodyPr wrap="square">
            <a:spAutoFit/>
          </a:bodyPr>
          <a:lstStyle/>
          <a:p>
            <a:pPr algn="l"/>
            <a:r>
              <a:rPr sz="1400" b="0" i="0">
                <a:solidFill>
                  <a:srgbClr val="555555"/>
                </a:solidFill>
                <a:latin typeface="Calibri"/>
              </a:rPr>
              <a:t>6× runtime for 0.5% additional gain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029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56032"/>
            <a:ext cx="11430000" cy="777240"/>
          </a:xfrm>
          <a:prstGeom prst="rect">
            <a:avLst/>
          </a:prstGeom>
          <a:noFill/>
        </p:spPr>
        <p:txBody>
          <a:bodyPr wrap="square">
            <a:spAutoFit/>
          </a:bodyPr>
          <a:lstStyle/>
          <a:p>
            <a:pPr algn="l"/>
            <a:r>
              <a:rPr sz="3200" b="1" i="0">
                <a:solidFill>
                  <a:srgbClr val="FFFFFF"/>
                </a:solidFill>
                <a:latin typeface="Calibri"/>
              </a:rPr>
              <a:t>Noise and Failure</a:t>
            </a:r>
          </a:p>
        </p:txBody>
      </p:sp>
      <p:sp>
        <p:nvSpPr>
          <p:cNvPr id="6" name="TextBox 5"/>
          <p:cNvSpPr txBox="1"/>
          <p:nvPr/>
        </p:nvSpPr>
        <p:spPr>
          <a:xfrm>
            <a:off x="411480" y="868680"/>
            <a:ext cx="11430000" cy="411480"/>
          </a:xfrm>
          <a:prstGeom prst="rect">
            <a:avLst/>
          </a:prstGeom>
          <a:noFill/>
        </p:spPr>
        <p:txBody>
          <a:bodyPr wrap="square">
            <a:spAutoFit/>
          </a:bodyPr>
          <a:lstStyle/>
          <a:p>
            <a:pPr algn="l"/>
            <a:r>
              <a:rPr sz="1500" b="0" i="0">
                <a:solidFill>
                  <a:srgbClr val="1DB954"/>
                </a:solidFill>
                <a:latin typeface="Calibri"/>
              </a:rPr>
              <a:t>10 of 16 experiments were discarded — and why that matters</a:t>
            </a:r>
          </a:p>
        </p:txBody>
      </p:sp>
      <p:sp>
        <p:nvSpPr>
          <p:cNvPr id="7" name="Rectangle 6"/>
          <p:cNvSpPr/>
          <p:nvPr/>
        </p:nvSpPr>
        <p:spPr>
          <a:xfrm>
            <a:off x="411480" y="1417320"/>
            <a:ext cx="553212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532120" cy="457200"/>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72184"/>
            <a:ext cx="5257800" cy="384048"/>
          </a:xfrm>
          <a:prstGeom prst="rect">
            <a:avLst/>
          </a:prstGeom>
          <a:noFill/>
        </p:spPr>
        <p:txBody>
          <a:bodyPr wrap="square">
            <a:spAutoFit/>
          </a:bodyPr>
          <a:lstStyle/>
          <a:p>
            <a:pPr algn="l"/>
            <a:r>
              <a:rPr sz="1400" b="1" i="0">
                <a:solidFill>
                  <a:srgbClr val="FFFFFF"/>
                </a:solidFill>
                <a:latin typeface="Calibri"/>
              </a:rPr>
              <a:t>Discarded (10 experiments)</a:t>
            </a:r>
          </a:p>
        </p:txBody>
      </p:sp>
      <p:sp>
        <p:nvSpPr>
          <p:cNvPr id="10" name="Rectangle 9"/>
          <p:cNvSpPr/>
          <p:nvPr/>
        </p:nvSpPr>
        <p:spPr>
          <a:xfrm>
            <a:off x="411480" y="1965960"/>
            <a:ext cx="553212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2002536"/>
            <a:ext cx="2323490" cy="347472"/>
          </a:xfrm>
          <a:prstGeom prst="rect">
            <a:avLst/>
          </a:prstGeom>
          <a:noFill/>
        </p:spPr>
        <p:txBody>
          <a:bodyPr wrap="square">
            <a:spAutoFit/>
          </a:bodyPr>
          <a:lstStyle/>
          <a:p>
            <a:pPr algn="l"/>
            <a:r>
              <a:rPr sz="1300" b="1" i="0">
                <a:solidFill>
                  <a:srgbClr val="1A1A1A"/>
                </a:solidFill>
                <a:latin typeface="Calibri"/>
              </a:rPr>
              <a:t>Interaction terms  ×3</a:t>
            </a:r>
          </a:p>
        </p:txBody>
      </p:sp>
      <p:sp>
        <p:nvSpPr>
          <p:cNvPr id="12" name="TextBox 11"/>
          <p:cNvSpPr txBox="1"/>
          <p:nvPr/>
        </p:nvSpPr>
        <p:spPr>
          <a:xfrm>
            <a:off x="521208" y="2313432"/>
            <a:ext cx="3485235" cy="310896"/>
          </a:xfrm>
          <a:prstGeom prst="rect">
            <a:avLst/>
          </a:prstGeom>
          <a:noFill/>
        </p:spPr>
        <p:txBody>
          <a:bodyPr wrap="square">
            <a:spAutoFit/>
          </a:bodyPr>
          <a:lstStyle/>
          <a:p>
            <a:pPr algn="l"/>
            <a:r>
              <a:rPr sz="1100" b="0" i="0">
                <a:solidFill>
                  <a:srgbClr val="555555"/>
                </a:solidFill>
                <a:latin typeface="Calibri"/>
              </a:rPr>
              <a:t>RF discovers interactions natively</a:t>
            </a:r>
          </a:p>
        </p:txBody>
      </p:sp>
      <p:sp>
        <p:nvSpPr>
          <p:cNvPr id="13" name="TextBox 12"/>
          <p:cNvSpPr txBox="1"/>
          <p:nvPr/>
        </p:nvSpPr>
        <p:spPr>
          <a:xfrm>
            <a:off x="4173321" y="2130552"/>
            <a:ext cx="1659636" cy="347472"/>
          </a:xfrm>
          <a:prstGeom prst="rect">
            <a:avLst/>
          </a:prstGeom>
          <a:noFill/>
        </p:spPr>
        <p:txBody>
          <a:bodyPr wrap="square">
            <a:spAutoFit/>
          </a:bodyPr>
          <a:lstStyle/>
          <a:p>
            <a:pPr algn="r"/>
            <a:r>
              <a:rPr sz="1200" b="1" i="0">
                <a:solidFill>
                  <a:srgbClr val="E03A3A"/>
                </a:solidFill>
                <a:latin typeface="Calibri"/>
              </a:rPr>
              <a:t>+0.004–+0.019</a:t>
            </a:r>
          </a:p>
        </p:txBody>
      </p:sp>
      <p:sp>
        <p:nvSpPr>
          <p:cNvPr id="14" name="Rectangle 13"/>
          <p:cNvSpPr/>
          <p:nvPr/>
        </p:nvSpPr>
        <p:spPr>
          <a:xfrm>
            <a:off x="411480" y="2633472"/>
            <a:ext cx="5532120" cy="667512"/>
          </a:xfrm>
          <a:prstGeom prst="rect">
            <a:avLst/>
          </a:prstGeom>
          <a:solidFill>
            <a:srgbClr val="F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2670048"/>
            <a:ext cx="2323490" cy="347472"/>
          </a:xfrm>
          <a:prstGeom prst="rect">
            <a:avLst/>
          </a:prstGeom>
          <a:noFill/>
        </p:spPr>
        <p:txBody>
          <a:bodyPr wrap="square">
            <a:spAutoFit/>
          </a:bodyPr>
          <a:lstStyle/>
          <a:p>
            <a:pPr algn="l"/>
            <a:r>
              <a:rPr sz="1300" b="1" i="0">
                <a:solidFill>
                  <a:srgbClr val="1A1A1A"/>
                </a:solidFill>
                <a:latin typeface="Calibri"/>
              </a:rPr>
              <a:t>HistGradientBoosting (×2)</a:t>
            </a:r>
          </a:p>
        </p:txBody>
      </p:sp>
      <p:sp>
        <p:nvSpPr>
          <p:cNvPr id="16" name="TextBox 15"/>
          <p:cNvSpPr txBox="1"/>
          <p:nvPr/>
        </p:nvSpPr>
        <p:spPr>
          <a:xfrm>
            <a:off x="521208" y="2980944"/>
            <a:ext cx="3485235" cy="310896"/>
          </a:xfrm>
          <a:prstGeom prst="rect">
            <a:avLst/>
          </a:prstGeom>
          <a:noFill/>
        </p:spPr>
        <p:txBody>
          <a:bodyPr wrap="square">
            <a:spAutoFit/>
          </a:bodyPr>
          <a:lstStyle/>
          <a:p>
            <a:pPr algn="l"/>
            <a:r>
              <a:rPr sz="1100" b="0" i="0">
                <a:solidFill>
                  <a:srgbClr val="555555"/>
                </a:solidFill>
                <a:latin typeface="Calibri"/>
              </a:rPr>
              <a:t>Worse than RF even when tuned</a:t>
            </a:r>
          </a:p>
        </p:txBody>
      </p:sp>
      <p:sp>
        <p:nvSpPr>
          <p:cNvPr id="17" name="TextBox 16"/>
          <p:cNvSpPr txBox="1"/>
          <p:nvPr/>
        </p:nvSpPr>
        <p:spPr>
          <a:xfrm>
            <a:off x="4173321" y="2798064"/>
            <a:ext cx="1659636" cy="347472"/>
          </a:xfrm>
          <a:prstGeom prst="rect">
            <a:avLst/>
          </a:prstGeom>
          <a:noFill/>
        </p:spPr>
        <p:txBody>
          <a:bodyPr wrap="square">
            <a:spAutoFit/>
          </a:bodyPr>
          <a:lstStyle/>
          <a:p>
            <a:pPr algn="r"/>
            <a:r>
              <a:rPr sz="1200" b="1" i="0">
                <a:solidFill>
                  <a:srgbClr val="E03A3A"/>
                </a:solidFill>
                <a:latin typeface="Calibri"/>
              </a:rPr>
              <a:t>+2.73 / +3.38</a:t>
            </a:r>
          </a:p>
        </p:txBody>
      </p:sp>
      <p:sp>
        <p:nvSpPr>
          <p:cNvPr id="18" name="Rectangle 17"/>
          <p:cNvSpPr/>
          <p:nvPr/>
        </p:nvSpPr>
        <p:spPr>
          <a:xfrm>
            <a:off x="411480" y="3300984"/>
            <a:ext cx="553212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 y="3337560"/>
            <a:ext cx="2323490" cy="347472"/>
          </a:xfrm>
          <a:prstGeom prst="rect">
            <a:avLst/>
          </a:prstGeom>
          <a:noFill/>
        </p:spPr>
        <p:txBody>
          <a:bodyPr wrap="square">
            <a:spAutoFit/>
          </a:bodyPr>
          <a:lstStyle/>
          <a:p>
            <a:pPr algn="l"/>
            <a:r>
              <a:rPr sz="1300" b="1" i="0">
                <a:solidFill>
                  <a:srgbClr val="1A1A1A"/>
                </a:solidFill>
                <a:latin typeface="Calibri"/>
              </a:rPr>
              <a:t>ExtraTreesRegressor</a:t>
            </a:r>
          </a:p>
        </p:txBody>
      </p:sp>
      <p:sp>
        <p:nvSpPr>
          <p:cNvPr id="20" name="TextBox 19"/>
          <p:cNvSpPr txBox="1"/>
          <p:nvPr/>
        </p:nvSpPr>
        <p:spPr>
          <a:xfrm>
            <a:off x="521208" y="3648456"/>
            <a:ext cx="3485235" cy="310896"/>
          </a:xfrm>
          <a:prstGeom prst="rect">
            <a:avLst/>
          </a:prstGeom>
          <a:noFill/>
        </p:spPr>
        <p:txBody>
          <a:bodyPr wrap="square">
            <a:spAutoFit/>
          </a:bodyPr>
          <a:lstStyle/>
          <a:p>
            <a:pPr algn="l"/>
            <a:r>
              <a:rPr sz="1100" b="0" i="0">
                <a:solidFill>
                  <a:srgbClr val="555555"/>
                </a:solidFill>
                <a:latin typeface="Calibri"/>
              </a:rPr>
              <a:t>Random splits &lt; RF best-split</a:t>
            </a:r>
          </a:p>
        </p:txBody>
      </p:sp>
      <p:sp>
        <p:nvSpPr>
          <p:cNvPr id="21" name="TextBox 20"/>
          <p:cNvSpPr txBox="1"/>
          <p:nvPr/>
        </p:nvSpPr>
        <p:spPr>
          <a:xfrm>
            <a:off x="4173321" y="3465576"/>
            <a:ext cx="1659636" cy="347472"/>
          </a:xfrm>
          <a:prstGeom prst="rect">
            <a:avLst/>
          </a:prstGeom>
          <a:noFill/>
        </p:spPr>
        <p:txBody>
          <a:bodyPr wrap="square">
            <a:spAutoFit/>
          </a:bodyPr>
          <a:lstStyle/>
          <a:p>
            <a:pPr algn="r"/>
            <a:r>
              <a:rPr sz="1200" b="1" i="0">
                <a:solidFill>
                  <a:srgbClr val="E03A3A"/>
                </a:solidFill>
                <a:latin typeface="Calibri"/>
              </a:rPr>
              <a:t>+0.43</a:t>
            </a:r>
          </a:p>
        </p:txBody>
      </p:sp>
      <p:sp>
        <p:nvSpPr>
          <p:cNvPr id="22" name="Rectangle 21"/>
          <p:cNvSpPr/>
          <p:nvPr/>
        </p:nvSpPr>
        <p:spPr>
          <a:xfrm>
            <a:off x="411480" y="3968496"/>
            <a:ext cx="5532120" cy="667512"/>
          </a:xfrm>
          <a:prstGeom prst="rect">
            <a:avLst/>
          </a:prstGeom>
          <a:solidFill>
            <a:srgbClr val="F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4005072"/>
            <a:ext cx="2323490" cy="347472"/>
          </a:xfrm>
          <a:prstGeom prst="rect">
            <a:avLst/>
          </a:prstGeom>
          <a:noFill/>
        </p:spPr>
        <p:txBody>
          <a:bodyPr wrap="square">
            <a:spAutoFit/>
          </a:bodyPr>
          <a:lstStyle/>
          <a:p>
            <a:pPr algn="l"/>
            <a:r>
              <a:rPr sz="1300" b="1" i="0">
                <a:solidFill>
                  <a:srgbClr val="1A1A1A"/>
                </a:solidFill>
                <a:latin typeface="Calibri"/>
              </a:rPr>
              <a:t>RF max_features / min_samples</a:t>
            </a:r>
          </a:p>
        </p:txBody>
      </p:sp>
      <p:sp>
        <p:nvSpPr>
          <p:cNvPr id="24" name="TextBox 23"/>
          <p:cNvSpPr txBox="1"/>
          <p:nvPr/>
        </p:nvSpPr>
        <p:spPr>
          <a:xfrm>
            <a:off x="521208" y="4315968"/>
            <a:ext cx="3485235" cy="310896"/>
          </a:xfrm>
          <a:prstGeom prst="rect">
            <a:avLst/>
          </a:prstGeom>
          <a:noFill/>
        </p:spPr>
        <p:txBody>
          <a:bodyPr wrap="square">
            <a:spAutoFit/>
          </a:bodyPr>
          <a:lstStyle/>
          <a:p>
            <a:pPr algn="l"/>
            <a:r>
              <a:rPr sz="1100" b="0" i="0">
                <a:solidFill>
                  <a:srgbClr val="555555"/>
                </a:solidFill>
                <a:latin typeface="Calibri"/>
              </a:rPr>
              <a:t>Regularization not the bottleneck</a:t>
            </a:r>
          </a:p>
        </p:txBody>
      </p:sp>
      <p:sp>
        <p:nvSpPr>
          <p:cNvPr id="25" name="TextBox 24"/>
          <p:cNvSpPr txBox="1"/>
          <p:nvPr/>
        </p:nvSpPr>
        <p:spPr>
          <a:xfrm>
            <a:off x="4173321" y="4133088"/>
            <a:ext cx="1659636" cy="347472"/>
          </a:xfrm>
          <a:prstGeom prst="rect">
            <a:avLst/>
          </a:prstGeom>
          <a:noFill/>
        </p:spPr>
        <p:txBody>
          <a:bodyPr wrap="square">
            <a:spAutoFit/>
          </a:bodyPr>
          <a:lstStyle/>
          <a:p>
            <a:pPr algn="r"/>
            <a:r>
              <a:rPr sz="1200" b="1" i="0">
                <a:solidFill>
                  <a:srgbClr val="E03A3A"/>
                </a:solidFill>
                <a:latin typeface="Calibri"/>
              </a:rPr>
              <a:t>+0.26–+0.36</a:t>
            </a:r>
          </a:p>
        </p:txBody>
      </p:sp>
      <p:sp>
        <p:nvSpPr>
          <p:cNvPr id="26" name="Rectangle 25"/>
          <p:cNvSpPr/>
          <p:nvPr/>
        </p:nvSpPr>
        <p:spPr>
          <a:xfrm>
            <a:off x="411480" y="4636008"/>
            <a:ext cx="5532120" cy="6675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4672584"/>
            <a:ext cx="2323490" cy="347472"/>
          </a:xfrm>
          <a:prstGeom prst="rect">
            <a:avLst/>
          </a:prstGeom>
          <a:noFill/>
        </p:spPr>
        <p:txBody>
          <a:bodyPr wrap="square">
            <a:spAutoFit/>
          </a:bodyPr>
          <a:lstStyle/>
          <a:p>
            <a:pPr algn="l"/>
            <a:r>
              <a:rPr sz="1300" b="1" i="0">
                <a:solidFill>
                  <a:srgbClr val="1A1A1A"/>
                </a:solidFill>
                <a:latin typeface="Calibri"/>
              </a:rPr>
              <a:t>Log transforms (bounded feats)</a:t>
            </a:r>
          </a:p>
        </p:txBody>
      </p:sp>
      <p:sp>
        <p:nvSpPr>
          <p:cNvPr id="28" name="TextBox 27"/>
          <p:cNvSpPr txBox="1"/>
          <p:nvPr/>
        </p:nvSpPr>
        <p:spPr>
          <a:xfrm>
            <a:off x="521208" y="4983480"/>
            <a:ext cx="3485235" cy="310896"/>
          </a:xfrm>
          <a:prstGeom prst="rect">
            <a:avLst/>
          </a:prstGeom>
          <a:noFill/>
        </p:spPr>
        <p:txBody>
          <a:bodyPr wrap="square">
            <a:spAutoFit/>
          </a:bodyPr>
          <a:lstStyle/>
          <a:p>
            <a:pPr algn="l"/>
            <a:r>
              <a:rPr sz="1100" b="0" i="0">
                <a:solidFill>
                  <a:srgbClr val="555555"/>
                </a:solidFill>
                <a:latin typeface="Calibri"/>
              </a:rPr>
              <a:t>Bounded features — log adds noise</a:t>
            </a:r>
          </a:p>
        </p:txBody>
      </p:sp>
      <p:sp>
        <p:nvSpPr>
          <p:cNvPr id="29" name="TextBox 28"/>
          <p:cNvSpPr txBox="1"/>
          <p:nvPr/>
        </p:nvSpPr>
        <p:spPr>
          <a:xfrm>
            <a:off x="4173321" y="4800600"/>
            <a:ext cx="1659636" cy="347472"/>
          </a:xfrm>
          <a:prstGeom prst="rect">
            <a:avLst/>
          </a:prstGeom>
          <a:noFill/>
        </p:spPr>
        <p:txBody>
          <a:bodyPr wrap="square">
            <a:spAutoFit/>
          </a:bodyPr>
          <a:lstStyle/>
          <a:p>
            <a:pPr algn="r"/>
            <a:r>
              <a:rPr sz="1200" b="1" i="0">
                <a:solidFill>
                  <a:srgbClr val="E03A3A"/>
                </a:solidFill>
                <a:latin typeface="Calibri"/>
              </a:rPr>
              <a:t>+0.003–+0.007</a:t>
            </a:r>
          </a:p>
        </p:txBody>
      </p:sp>
      <p:sp>
        <p:nvSpPr>
          <p:cNvPr id="30" name="Rectangle 29"/>
          <p:cNvSpPr/>
          <p:nvPr/>
        </p:nvSpPr>
        <p:spPr>
          <a:xfrm>
            <a:off x="411480" y="5303520"/>
            <a:ext cx="5532120" cy="667512"/>
          </a:xfrm>
          <a:prstGeom prst="rect">
            <a:avLst/>
          </a:prstGeom>
          <a:solidFill>
            <a:srgbClr val="F8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 y="5340096"/>
            <a:ext cx="2323490" cy="347472"/>
          </a:xfrm>
          <a:prstGeom prst="rect">
            <a:avLst/>
          </a:prstGeom>
          <a:noFill/>
        </p:spPr>
        <p:txBody>
          <a:bodyPr wrap="square">
            <a:spAutoFit/>
          </a:bodyPr>
          <a:lstStyle/>
          <a:p>
            <a:pPr algn="l"/>
            <a:r>
              <a:rPr sz="1300" b="1" i="0">
                <a:solidFill>
                  <a:srgbClr val="1A1A1A"/>
                </a:solidFill>
                <a:latin typeface="Calibri"/>
              </a:rPr>
              <a:t>Feature dropping</a:t>
            </a:r>
          </a:p>
        </p:txBody>
      </p:sp>
      <p:sp>
        <p:nvSpPr>
          <p:cNvPr id="32" name="TextBox 31"/>
          <p:cNvSpPr txBox="1"/>
          <p:nvPr/>
        </p:nvSpPr>
        <p:spPr>
          <a:xfrm>
            <a:off x="521208" y="5650992"/>
            <a:ext cx="3485235" cy="310896"/>
          </a:xfrm>
          <a:prstGeom prst="rect">
            <a:avLst/>
          </a:prstGeom>
          <a:noFill/>
        </p:spPr>
        <p:txBody>
          <a:bodyPr wrap="square">
            <a:spAutoFit/>
          </a:bodyPr>
          <a:lstStyle/>
          <a:p>
            <a:pPr algn="l"/>
            <a:r>
              <a:rPr sz="1100" b="0" i="0">
                <a:solidFill>
                  <a:srgbClr val="555555"/>
                </a:solidFill>
                <a:latin typeface="Calibri"/>
              </a:rPr>
              <a:t>key, mode, time_sig still contribute</a:t>
            </a:r>
          </a:p>
        </p:txBody>
      </p:sp>
      <p:sp>
        <p:nvSpPr>
          <p:cNvPr id="33" name="TextBox 32"/>
          <p:cNvSpPr txBox="1"/>
          <p:nvPr/>
        </p:nvSpPr>
        <p:spPr>
          <a:xfrm>
            <a:off x="4173321" y="5468112"/>
            <a:ext cx="1659636" cy="347472"/>
          </a:xfrm>
          <a:prstGeom prst="rect">
            <a:avLst/>
          </a:prstGeom>
          <a:noFill/>
        </p:spPr>
        <p:txBody>
          <a:bodyPr wrap="square">
            <a:spAutoFit/>
          </a:bodyPr>
          <a:lstStyle/>
          <a:p>
            <a:pPr algn="r"/>
            <a:r>
              <a:rPr sz="1200" b="1" i="0">
                <a:solidFill>
                  <a:srgbClr val="E03A3A"/>
                </a:solidFill>
                <a:latin typeface="Calibri"/>
              </a:rPr>
              <a:t>+0.71</a:t>
            </a:r>
          </a:p>
        </p:txBody>
      </p:sp>
      <p:sp>
        <p:nvSpPr>
          <p:cNvPr id="34" name="Rectangle 33"/>
          <p:cNvSpPr/>
          <p:nvPr/>
        </p:nvSpPr>
        <p:spPr>
          <a:xfrm>
            <a:off x="6309360" y="1417320"/>
            <a:ext cx="5532120" cy="5120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1417320"/>
            <a:ext cx="5532120" cy="4572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46520" y="1472184"/>
            <a:ext cx="5257800" cy="384048"/>
          </a:xfrm>
          <a:prstGeom prst="rect">
            <a:avLst/>
          </a:prstGeom>
          <a:noFill/>
        </p:spPr>
        <p:txBody>
          <a:bodyPr wrap="square">
            <a:spAutoFit/>
          </a:bodyPr>
          <a:lstStyle/>
          <a:p>
            <a:pPr algn="l"/>
            <a:r>
              <a:rPr sz="1400" b="1" i="0">
                <a:solidFill>
                  <a:srgbClr val="1DB954"/>
                </a:solidFill>
                <a:latin typeface="Calibri"/>
              </a:rPr>
              <a:t>What This Reveals</a:t>
            </a:r>
          </a:p>
        </p:txBody>
      </p:sp>
      <p:sp>
        <p:nvSpPr>
          <p:cNvPr id="37" name="TextBox 36"/>
          <p:cNvSpPr txBox="1"/>
          <p:nvPr/>
        </p:nvSpPr>
        <p:spPr>
          <a:xfrm>
            <a:off x="6492240" y="1965960"/>
            <a:ext cx="5212080" cy="4480560"/>
          </a:xfrm>
          <a:prstGeom prst="rect">
            <a:avLst/>
          </a:prstGeom>
          <a:noFill/>
        </p:spPr>
        <p:txBody>
          <a:bodyPr wrap="square">
            <a:spAutoFit/>
          </a:bodyPr>
          <a:lstStyle/>
          <a:p>
            <a:pPr algn="l"/>
            <a:r>
              <a:rPr sz="1500" b="0">
                <a:solidFill>
                  <a:srgbClr val="1A1A1A"/>
                </a:solidFill>
                <a:latin typeface="Calibri"/>
              </a:rPr>
              <a:t>Combined effect of all discarded work:</a:t>
            </a:r>
          </a:p>
          <a:p>
            <a:pPr algn="l"/>
            <a:r>
              <a:rPr sz="2200" b="1">
                <a:solidFill>
                  <a:srgbClr val="E03A3A"/>
                </a:solidFill>
                <a:latin typeface="Calibri"/>
              </a:rPr>
              <a:t>  0.00 RMSE improvement</a:t>
            </a:r>
          </a:p>
          <a:p>
            <a:pPr algn="l"/>
            <a:r>
              <a:rPr sz="800" b="0">
                <a:solidFill>
                  <a:srgbClr val="1A1A1A"/>
                </a:solidFill>
                <a:latin typeface="Calibri"/>
              </a:rPr>
              <a:t/>
            </a:r>
          </a:p>
          <a:p>
            <a:pPr algn="l"/>
            <a:r>
              <a:rPr sz="1400" b="1">
                <a:solidFill>
                  <a:srgbClr val="1A1A1A"/>
                </a:solidFill>
                <a:latin typeface="Calibri"/>
              </a:rPr>
              <a:t>Structural limitation of a pure RMSE loop:</a:t>
            </a:r>
          </a:p>
          <a:p>
            <a:pPr algn="l"/>
            <a:r>
              <a:rPr sz="600" b="0">
                <a:solidFill>
                  <a:srgbClr val="1A1A1A"/>
                </a:solidFill>
                <a:latin typeface="Calibri"/>
              </a:rPr>
              <a:t/>
            </a:r>
          </a:p>
          <a:p>
            <a:pPr algn="l"/>
            <a:r>
              <a:rPr sz="1400" b="0">
                <a:solidFill>
                  <a:srgbClr val="555555"/>
                </a:solidFill>
                <a:latin typeface="Calibri"/>
              </a:rPr>
              <a:t>• Loop executes checklist instead of updating</a:t>
            </a:r>
          </a:p>
          <a:p>
            <a:pPr algn="l"/>
            <a:r>
              <a:rPr sz="1400" b="0">
                <a:solidFill>
                  <a:srgbClr val="555555"/>
                </a:solidFill>
                <a:latin typeface="Calibri"/>
              </a:rPr>
              <a:t>  beliefs after first failure</a:t>
            </a:r>
          </a:p>
          <a:p>
            <a:pPr algn="l"/>
            <a:r>
              <a:rPr sz="600" b="0">
                <a:solidFill>
                  <a:srgbClr val="1A1A1A"/>
                </a:solidFill>
                <a:latin typeface="Calibri"/>
              </a:rPr>
              <a:t/>
            </a:r>
          </a:p>
          <a:p>
            <a:pPr algn="l"/>
            <a:r>
              <a:rPr sz="1400" b="0">
                <a:solidFill>
                  <a:srgbClr val="555555"/>
                </a:solidFill>
                <a:latin typeface="Calibri"/>
              </a:rPr>
              <a:t>• Three consecutive interaction experiments ran</a:t>
            </a:r>
          </a:p>
          <a:p>
            <a:pPr algn="l"/>
            <a:r>
              <a:rPr sz="1400" b="0">
                <a:solidFill>
                  <a:srgbClr val="555555"/>
                </a:solidFill>
                <a:latin typeface="Calibri"/>
              </a:rPr>
              <a:t>  even after the first failure made the reason</a:t>
            </a:r>
          </a:p>
          <a:p>
            <a:pPr algn="l"/>
            <a:r>
              <a:rPr sz="1400" b="0">
                <a:solidFill>
                  <a:srgbClr val="555555"/>
                </a:solidFill>
                <a:latin typeface="Calibri"/>
              </a:rPr>
              <a:t>  clear: RF already handles interactions</a:t>
            </a:r>
          </a:p>
          <a:p>
            <a:pPr algn="l"/>
            <a:r>
              <a:rPr sz="600" b="0">
                <a:solidFill>
                  <a:srgbClr val="1A1A1A"/>
                </a:solidFill>
                <a:latin typeface="Calibri"/>
              </a:rPr>
              <a:t/>
            </a:r>
          </a:p>
          <a:p>
            <a:pPr algn="l"/>
            <a:r>
              <a:rPr sz="1400" b="0">
                <a:solidFill>
                  <a:srgbClr val="555555"/>
                </a:solidFill>
                <a:latin typeface="Calibri"/>
              </a:rPr>
              <a:t>• No self-auditing → index artifact undetected</a:t>
            </a:r>
          </a:p>
          <a:p>
            <a:pPr algn="l"/>
            <a:r>
              <a:rPr sz="1400" b="0">
                <a:solidFill>
                  <a:srgbClr val="555555"/>
                </a:solidFill>
                <a:latin typeface="Calibri"/>
              </a:rPr>
              <a:t>  for 5 weeks (35.8% feature importance!)</a:t>
            </a:r>
          </a:p>
          <a:p>
            <a:pPr algn="l"/>
            <a:r>
              <a:rPr sz="800" b="0">
                <a:solidFill>
                  <a:srgbClr val="1A1A1A"/>
                </a:solidFill>
                <a:latin typeface="Calibri"/>
              </a:rPr>
              <a:t/>
            </a:r>
          </a:p>
          <a:p>
            <a:pPr algn="l"/>
            <a:r>
              <a:rPr sz="1400" b="1">
                <a:solidFill>
                  <a:srgbClr val="1A1A1A"/>
                </a:solidFill>
                <a:latin typeface="Calibri"/>
              </a:rPr>
              <a:t>Fix: differentiate evidence by replaceability</a:t>
            </a:r>
          </a:p>
          <a:p>
            <a:pPr algn="l"/>
            <a:r>
              <a:rPr sz="1300" b="0">
                <a:solidFill>
                  <a:srgbClr val="555555"/>
                </a:solidFill>
                <a:latin typeface="Calibri"/>
              </a:rPr>
              <a:t>of hypothesis, not flat keep/discard rule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029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56032"/>
            <a:ext cx="11430000" cy="777240"/>
          </a:xfrm>
          <a:prstGeom prst="rect">
            <a:avLst/>
          </a:prstGeom>
          <a:noFill/>
        </p:spPr>
        <p:txBody>
          <a:bodyPr wrap="square">
            <a:spAutoFit/>
          </a:bodyPr>
          <a:lstStyle/>
          <a:p>
            <a:pPr algn="l"/>
            <a:r>
              <a:rPr sz="3200" b="1" i="0">
                <a:solidFill>
                  <a:srgbClr val="FFFFFF"/>
                </a:solidFill>
                <a:latin typeface="Calibri"/>
              </a:rPr>
              <a:t>The Model Fails Where It Matters Most</a:t>
            </a:r>
          </a:p>
        </p:txBody>
      </p:sp>
      <p:sp>
        <p:nvSpPr>
          <p:cNvPr id="6" name="TextBox 5"/>
          <p:cNvSpPr txBox="1"/>
          <p:nvPr/>
        </p:nvSpPr>
        <p:spPr>
          <a:xfrm>
            <a:off x="411480" y="868680"/>
            <a:ext cx="11430000" cy="411480"/>
          </a:xfrm>
          <a:prstGeom prst="rect">
            <a:avLst/>
          </a:prstGeom>
          <a:noFill/>
        </p:spPr>
        <p:txBody>
          <a:bodyPr wrap="square">
            <a:spAutoFit/>
          </a:bodyPr>
          <a:lstStyle/>
          <a:p>
            <a:pPr algn="l"/>
            <a:r>
              <a:rPr sz="1500" b="0" i="0">
                <a:solidFill>
                  <a:srgbClr val="1DB954"/>
                </a:solidFill>
                <a:latin typeface="Calibri"/>
              </a:rPr>
              <a:t>Popularity bucket analysis — the central result</a:t>
            </a:r>
          </a:p>
        </p:txBody>
      </p:sp>
      <p:pic>
        <p:nvPicPr>
          <p:cNvPr id="7" name="Picture 6" descr="error_by_bucket_plot.png"/>
          <p:cNvPicPr>
            <a:picLocks noChangeAspect="1"/>
          </p:cNvPicPr>
          <p:nvPr/>
        </p:nvPicPr>
        <p:blipFill>
          <a:blip r:embed="rId2"/>
          <a:stretch>
            <a:fillRect/>
          </a:stretch>
        </p:blipFill>
        <p:spPr>
          <a:xfrm>
            <a:off x="320040" y="1371600"/>
            <a:ext cx="6583680" cy="2245642"/>
          </a:xfrm>
          <a:prstGeom prst="rect">
            <a:avLst/>
          </a:prstGeom>
        </p:spPr>
      </p:pic>
      <p:sp>
        <p:nvSpPr>
          <p:cNvPr id="8" name="Rectangle 7"/>
          <p:cNvSpPr/>
          <p:nvPr/>
        </p:nvSpPr>
        <p:spPr>
          <a:xfrm>
            <a:off x="7223760" y="1417320"/>
            <a:ext cx="4663440" cy="100584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60920" y="1463040"/>
            <a:ext cx="2238451" cy="411480"/>
          </a:xfrm>
          <a:prstGeom prst="rect">
            <a:avLst/>
          </a:prstGeom>
          <a:noFill/>
        </p:spPr>
        <p:txBody>
          <a:bodyPr wrap="square">
            <a:spAutoFit/>
          </a:bodyPr>
          <a:lstStyle/>
          <a:p>
            <a:pPr algn="l"/>
            <a:r>
              <a:rPr sz="1600" b="1" i="0">
                <a:solidFill>
                  <a:srgbClr val="FFFFFF"/>
                </a:solidFill>
                <a:latin typeface="Calibri"/>
              </a:rPr>
              <a:t>Low  (0–33)</a:t>
            </a:r>
          </a:p>
        </p:txBody>
      </p:sp>
      <p:sp>
        <p:nvSpPr>
          <p:cNvPr id="10" name="TextBox 9"/>
          <p:cNvSpPr txBox="1"/>
          <p:nvPr/>
        </p:nvSpPr>
        <p:spPr>
          <a:xfrm>
            <a:off x="9555480" y="1463040"/>
            <a:ext cx="2331720" cy="411480"/>
          </a:xfrm>
          <a:prstGeom prst="rect">
            <a:avLst/>
          </a:prstGeom>
          <a:noFill/>
        </p:spPr>
        <p:txBody>
          <a:bodyPr wrap="square">
            <a:spAutoFit/>
          </a:bodyPr>
          <a:lstStyle/>
          <a:p>
            <a:pPr algn="r"/>
            <a:r>
              <a:rPr sz="1900" b="1" i="0">
                <a:solidFill>
                  <a:srgbClr val="FFFFFF"/>
                </a:solidFill>
                <a:latin typeface="Calibri"/>
              </a:rPr>
              <a:t>RMSE 15.22</a:t>
            </a:r>
          </a:p>
        </p:txBody>
      </p:sp>
      <p:sp>
        <p:nvSpPr>
          <p:cNvPr id="11" name="TextBox 10"/>
          <p:cNvSpPr txBox="1"/>
          <p:nvPr/>
        </p:nvSpPr>
        <p:spPr>
          <a:xfrm>
            <a:off x="7360920" y="1920240"/>
            <a:ext cx="4389120" cy="411480"/>
          </a:xfrm>
          <a:prstGeom prst="rect">
            <a:avLst/>
          </a:prstGeom>
          <a:noFill/>
        </p:spPr>
        <p:txBody>
          <a:bodyPr wrap="square">
            <a:spAutoFit/>
          </a:bodyPr>
          <a:lstStyle/>
          <a:p>
            <a:pPr algn="l"/>
            <a:r>
              <a:rPr sz="1300" b="0" i="0">
                <a:solidFill>
                  <a:srgbClr val="FFFFFF"/>
                </a:solidFill>
                <a:latin typeface="Calibri"/>
              </a:rPr>
              <a:t>Bias +10.67  ·  overpredicts</a:t>
            </a:r>
          </a:p>
        </p:txBody>
      </p:sp>
      <p:sp>
        <p:nvSpPr>
          <p:cNvPr id="12" name="Rectangle 11"/>
          <p:cNvSpPr/>
          <p:nvPr/>
        </p:nvSpPr>
        <p:spPr>
          <a:xfrm>
            <a:off x="7223760" y="2514600"/>
            <a:ext cx="4663440" cy="10058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0920" y="2560320"/>
            <a:ext cx="2238451" cy="411480"/>
          </a:xfrm>
          <a:prstGeom prst="rect">
            <a:avLst/>
          </a:prstGeom>
          <a:noFill/>
        </p:spPr>
        <p:txBody>
          <a:bodyPr wrap="square">
            <a:spAutoFit/>
          </a:bodyPr>
          <a:lstStyle/>
          <a:p>
            <a:pPr algn="l"/>
            <a:r>
              <a:rPr sz="1600" b="1" i="0">
                <a:solidFill>
                  <a:srgbClr val="FFFFFF"/>
                </a:solidFill>
                <a:latin typeface="Calibri"/>
              </a:rPr>
              <a:t>Medium  (34–66)</a:t>
            </a:r>
          </a:p>
        </p:txBody>
      </p:sp>
      <p:sp>
        <p:nvSpPr>
          <p:cNvPr id="14" name="TextBox 13"/>
          <p:cNvSpPr txBox="1"/>
          <p:nvPr/>
        </p:nvSpPr>
        <p:spPr>
          <a:xfrm>
            <a:off x="9555480" y="2560320"/>
            <a:ext cx="2331720" cy="411480"/>
          </a:xfrm>
          <a:prstGeom prst="rect">
            <a:avLst/>
          </a:prstGeom>
          <a:noFill/>
        </p:spPr>
        <p:txBody>
          <a:bodyPr wrap="square">
            <a:spAutoFit/>
          </a:bodyPr>
          <a:lstStyle/>
          <a:p>
            <a:pPr algn="r"/>
            <a:r>
              <a:rPr sz="1900" b="1" i="0">
                <a:solidFill>
                  <a:srgbClr val="FFFFFF"/>
                </a:solidFill>
                <a:latin typeface="Calibri"/>
              </a:rPr>
              <a:t>RMSE 13.31</a:t>
            </a:r>
          </a:p>
        </p:txBody>
      </p:sp>
      <p:sp>
        <p:nvSpPr>
          <p:cNvPr id="15" name="TextBox 14"/>
          <p:cNvSpPr txBox="1"/>
          <p:nvPr/>
        </p:nvSpPr>
        <p:spPr>
          <a:xfrm>
            <a:off x="7360920" y="3017520"/>
            <a:ext cx="4389120" cy="411480"/>
          </a:xfrm>
          <a:prstGeom prst="rect">
            <a:avLst/>
          </a:prstGeom>
          <a:noFill/>
        </p:spPr>
        <p:txBody>
          <a:bodyPr wrap="square">
            <a:spAutoFit/>
          </a:bodyPr>
          <a:lstStyle/>
          <a:p>
            <a:pPr algn="l"/>
            <a:r>
              <a:rPr sz="1300" b="0" i="0">
                <a:solidFill>
                  <a:srgbClr val="FFFFFF"/>
                </a:solidFill>
                <a:latin typeface="Calibri"/>
              </a:rPr>
              <a:t>Bias −8.79  ·  near-balanced</a:t>
            </a:r>
          </a:p>
        </p:txBody>
      </p:sp>
      <p:sp>
        <p:nvSpPr>
          <p:cNvPr id="16" name="Rectangle 15"/>
          <p:cNvSpPr/>
          <p:nvPr/>
        </p:nvSpPr>
        <p:spPr>
          <a:xfrm>
            <a:off x="7223760" y="3611880"/>
            <a:ext cx="4663440" cy="1005840"/>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20" y="3657600"/>
            <a:ext cx="2238451" cy="411480"/>
          </a:xfrm>
          <a:prstGeom prst="rect">
            <a:avLst/>
          </a:prstGeom>
          <a:noFill/>
        </p:spPr>
        <p:txBody>
          <a:bodyPr wrap="square">
            <a:spAutoFit/>
          </a:bodyPr>
          <a:lstStyle/>
          <a:p>
            <a:pPr algn="l"/>
            <a:r>
              <a:rPr sz="1600" b="1" i="0">
                <a:solidFill>
                  <a:srgbClr val="FFFFFF"/>
                </a:solidFill>
                <a:latin typeface="Calibri"/>
              </a:rPr>
              <a:t>High  (67–100)</a:t>
            </a:r>
          </a:p>
        </p:txBody>
      </p:sp>
      <p:sp>
        <p:nvSpPr>
          <p:cNvPr id="18" name="TextBox 17"/>
          <p:cNvSpPr txBox="1"/>
          <p:nvPr/>
        </p:nvSpPr>
        <p:spPr>
          <a:xfrm>
            <a:off x="9555480" y="3657600"/>
            <a:ext cx="2331720" cy="411480"/>
          </a:xfrm>
          <a:prstGeom prst="rect">
            <a:avLst/>
          </a:prstGeom>
          <a:noFill/>
        </p:spPr>
        <p:txBody>
          <a:bodyPr wrap="square">
            <a:spAutoFit/>
          </a:bodyPr>
          <a:lstStyle/>
          <a:p>
            <a:pPr algn="r"/>
            <a:r>
              <a:rPr sz="1900" b="1" i="0">
                <a:solidFill>
                  <a:srgbClr val="FFFFFF"/>
                </a:solidFill>
                <a:latin typeface="Calibri"/>
              </a:rPr>
              <a:t>RMSE 28.48</a:t>
            </a:r>
          </a:p>
        </p:txBody>
      </p:sp>
      <p:sp>
        <p:nvSpPr>
          <p:cNvPr id="19" name="TextBox 18"/>
          <p:cNvSpPr txBox="1"/>
          <p:nvPr/>
        </p:nvSpPr>
        <p:spPr>
          <a:xfrm>
            <a:off x="7360920" y="4114800"/>
            <a:ext cx="4389120" cy="411480"/>
          </a:xfrm>
          <a:prstGeom prst="rect">
            <a:avLst/>
          </a:prstGeom>
          <a:noFill/>
        </p:spPr>
        <p:txBody>
          <a:bodyPr wrap="square">
            <a:spAutoFit/>
          </a:bodyPr>
          <a:lstStyle/>
          <a:p>
            <a:pPr algn="l"/>
            <a:r>
              <a:rPr sz="1300" b="0" i="0">
                <a:solidFill>
                  <a:srgbClr val="FFFFFF"/>
                </a:solidFill>
                <a:latin typeface="Calibri"/>
              </a:rPr>
              <a:t>Bias −23.26  ·  severe underpredict</a:t>
            </a:r>
          </a:p>
        </p:txBody>
      </p:sp>
      <p:sp>
        <p:nvSpPr>
          <p:cNvPr id="20" name="Rectangle 19"/>
          <p:cNvSpPr/>
          <p:nvPr/>
        </p:nvSpPr>
        <p:spPr>
          <a:xfrm>
            <a:off x="7223760" y="4800600"/>
            <a:ext cx="4663440" cy="21945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23760" y="4800600"/>
            <a:ext cx="4663440" cy="64008"/>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4983480"/>
            <a:ext cx="4343400" cy="1965960"/>
          </a:xfrm>
          <a:prstGeom prst="rect">
            <a:avLst/>
          </a:prstGeom>
          <a:noFill/>
        </p:spPr>
        <p:txBody>
          <a:bodyPr wrap="square">
            <a:spAutoFit/>
          </a:bodyPr>
          <a:lstStyle/>
          <a:p>
            <a:pPr algn="l"/>
            <a:r>
              <a:rPr sz="1500" b="1">
                <a:solidFill>
                  <a:srgbClr val="FFFFFF"/>
                </a:solidFill>
                <a:latin typeface="Calibri"/>
              </a:rPr>
              <a:t>2.1× higher RMSE on high-popularity tracks</a:t>
            </a:r>
          </a:p>
          <a:p>
            <a:pPr algn="l"/>
            <a:r>
              <a:rPr sz="700" b="0">
                <a:solidFill>
                  <a:srgbClr val="FFFFFF"/>
                </a:solidFill>
                <a:latin typeface="Calibri"/>
              </a:rPr>
              <a:t/>
            </a:r>
          </a:p>
          <a:p>
            <a:pPr algn="l"/>
            <a:r>
              <a:rPr sz="1300" b="0">
                <a:solidFill>
                  <a:srgbClr val="CCCCCC"/>
                </a:solidFill>
                <a:latin typeface="Calibri"/>
              </a:rPr>
              <a:t>Audio features identify what a song sounds like.</a:t>
            </a:r>
          </a:p>
          <a:p>
            <a:pPr algn="l"/>
            <a:r>
              <a:rPr sz="1300" b="0">
                <a:solidFill>
                  <a:srgbClr val="CCCCCC"/>
                </a:solidFill>
                <a:latin typeface="Calibri"/>
              </a:rPr>
              <a:t>They cannot identify which good-sounding songs</a:t>
            </a:r>
          </a:p>
          <a:p>
            <a:pPr algn="l"/>
            <a:r>
              <a:rPr sz="1300" b="0">
                <a:solidFill>
                  <a:srgbClr val="CCCCCC"/>
                </a:solidFill>
                <a:latin typeface="Calibri"/>
              </a:rPr>
              <a:t>become hits.</a:t>
            </a:r>
          </a:p>
          <a:p>
            <a:pPr algn="l"/>
            <a:r>
              <a:rPr sz="700" b="0">
                <a:solidFill>
                  <a:srgbClr val="FFFFFF"/>
                </a:solidFill>
                <a:latin typeface="Calibri"/>
              </a:rPr>
              <a:t/>
            </a:r>
          </a:p>
          <a:p>
            <a:pPr algn="l"/>
            <a:r>
              <a:rPr sz="1300" b="1">
                <a:solidFill>
                  <a:srgbClr val="1DB954"/>
                </a:solidFill>
                <a:latin typeface="Calibri"/>
              </a:rPr>
              <a:t>Missing signal:</a:t>
            </a:r>
          </a:p>
          <a:p>
            <a:pPr algn="l"/>
            <a:r>
              <a:rPr sz="1300" b="0">
                <a:solidFill>
                  <a:srgbClr val="BBBBBB"/>
                </a:solidFill>
                <a:latin typeface="Calibri"/>
              </a:rPr>
              <a:t>artist reputation · playlist placement</a:t>
            </a:r>
          </a:p>
          <a:p>
            <a:pPr algn="l"/>
            <a:r>
              <a:rPr sz="1300" b="0">
                <a:solidFill>
                  <a:srgbClr val="BBBBBB"/>
                </a:solidFill>
                <a:latin typeface="Calibri"/>
              </a:rPr>
              <a:t>label support · release timing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029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56032"/>
            <a:ext cx="11430000" cy="777240"/>
          </a:xfrm>
          <a:prstGeom prst="rect">
            <a:avLst/>
          </a:prstGeom>
          <a:noFill/>
        </p:spPr>
        <p:txBody>
          <a:bodyPr wrap="square">
            <a:spAutoFit/>
          </a:bodyPr>
          <a:lstStyle/>
          <a:p>
            <a:pPr algn="l"/>
            <a:r>
              <a:rPr sz="3200" b="1" i="0">
                <a:solidFill>
                  <a:srgbClr val="FFFFFF"/>
                </a:solidFill>
                <a:latin typeface="Calibri"/>
              </a:rPr>
              <a:t>Limits of the Loop</a:t>
            </a:r>
          </a:p>
        </p:txBody>
      </p:sp>
      <p:sp>
        <p:nvSpPr>
          <p:cNvPr id="6" name="TextBox 5"/>
          <p:cNvSpPr txBox="1"/>
          <p:nvPr/>
        </p:nvSpPr>
        <p:spPr>
          <a:xfrm>
            <a:off x="411480" y="868680"/>
            <a:ext cx="11430000" cy="411480"/>
          </a:xfrm>
          <a:prstGeom prst="rect">
            <a:avLst/>
          </a:prstGeom>
          <a:noFill/>
        </p:spPr>
        <p:txBody>
          <a:bodyPr wrap="square">
            <a:spAutoFit/>
          </a:bodyPr>
          <a:lstStyle/>
          <a:p>
            <a:pPr algn="l"/>
            <a:r>
              <a:rPr sz="1500" b="0" i="0">
                <a:solidFill>
                  <a:srgbClr val="1DB954"/>
                </a:solidFill>
                <a:latin typeface="Calibri"/>
              </a:rPr>
              <a:t>Feature-bucket analysis: the failure is not in audio space</a:t>
            </a:r>
          </a:p>
        </p:txBody>
      </p:sp>
      <p:pic>
        <p:nvPicPr>
          <p:cNvPr id="7" name="Picture 6" descr="feature_bucket_error_plot.png"/>
          <p:cNvPicPr>
            <a:picLocks noChangeAspect="1"/>
          </p:cNvPicPr>
          <p:nvPr/>
        </p:nvPicPr>
        <p:blipFill>
          <a:blip r:embed="rId2"/>
          <a:stretch>
            <a:fillRect/>
          </a:stretch>
        </p:blipFill>
        <p:spPr>
          <a:xfrm>
            <a:off x="320040" y="1371600"/>
            <a:ext cx="6675120" cy="3660261"/>
          </a:xfrm>
          <a:prstGeom prst="rect">
            <a:avLst/>
          </a:prstGeom>
        </p:spPr>
      </p:pic>
      <p:sp>
        <p:nvSpPr>
          <p:cNvPr id="8" name="TextBox 7"/>
          <p:cNvSpPr txBox="1"/>
          <p:nvPr/>
        </p:nvSpPr>
        <p:spPr>
          <a:xfrm>
            <a:off x="7269480" y="1417320"/>
            <a:ext cx="4617720" cy="411480"/>
          </a:xfrm>
          <a:prstGeom prst="rect">
            <a:avLst/>
          </a:prstGeom>
          <a:noFill/>
        </p:spPr>
        <p:txBody>
          <a:bodyPr wrap="square">
            <a:spAutoFit/>
          </a:bodyPr>
          <a:lstStyle/>
          <a:p>
            <a:pPr algn="l"/>
            <a:r>
              <a:rPr sz="1400" b="1" i="0">
                <a:solidFill>
                  <a:srgbClr val="1A1A1A"/>
                </a:solidFill>
                <a:latin typeface="Calibri"/>
              </a:rPr>
              <a:t>Error structure by slicing dimension:</a:t>
            </a:r>
          </a:p>
        </p:txBody>
      </p:sp>
      <p:sp>
        <p:nvSpPr>
          <p:cNvPr id="9" name="Rectangle 8"/>
          <p:cNvSpPr/>
          <p:nvPr/>
        </p:nvSpPr>
        <p:spPr>
          <a:xfrm>
            <a:off x="7269480" y="1874520"/>
            <a:ext cx="4617720" cy="384048"/>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0920" y="1911096"/>
            <a:ext cx="1280160" cy="347472"/>
          </a:xfrm>
          <a:prstGeom prst="rect">
            <a:avLst/>
          </a:prstGeom>
          <a:noFill/>
        </p:spPr>
        <p:txBody>
          <a:bodyPr wrap="square">
            <a:spAutoFit/>
          </a:bodyPr>
          <a:lstStyle/>
          <a:p>
            <a:pPr algn="l"/>
            <a:r>
              <a:rPr sz="1200" b="1" i="0">
                <a:solidFill>
                  <a:srgbClr val="FFFFFF"/>
                </a:solidFill>
                <a:latin typeface="Calibri"/>
              </a:rPr>
              <a:t>Sliced by</a:t>
            </a:r>
          </a:p>
        </p:txBody>
      </p:sp>
      <p:sp>
        <p:nvSpPr>
          <p:cNvPr id="11" name="TextBox 10"/>
          <p:cNvSpPr txBox="1"/>
          <p:nvPr/>
        </p:nvSpPr>
        <p:spPr>
          <a:xfrm>
            <a:off x="9555480" y="1911096"/>
            <a:ext cx="1280160" cy="347472"/>
          </a:xfrm>
          <a:prstGeom prst="rect">
            <a:avLst/>
          </a:prstGeom>
          <a:noFill/>
        </p:spPr>
        <p:txBody>
          <a:bodyPr wrap="square">
            <a:spAutoFit/>
          </a:bodyPr>
          <a:lstStyle/>
          <a:p>
            <a:pPr algn="l"/>
            <a:r>
              <a:rPr sz="1200" b="1" i="0">
                <a:solidFill>
                  <a:srgbClr val="FFFFFF"/>
                </a:solidFill>
                <a:latin typeface="Calibri"/>
              </a:rPr>
              <a:t>RMSE span</a:t>
            </a:r>
          </a:p>
        </p:txBody>
      </p:sp>
      <p:sp>
        <p:nvSpPr>
          <p:cNvPr id="12" name="TextBox 11"/>
          <p:cNvSpPr txBox="1"/>
          <p:nvPr/>
        </p:nvSpPr>
        <p:spPr>
          <a:xfrm>
            <a:off x="10652760" y="1911096"/>
            <a:ext cx="1280160" cy="347472"/>
          </a:xfrm>
          <a:prstGeom prst="rect">
            <a:avLst/>
          </a:prstGeom>
          <a:noFill/>
        </p:spPr>
        <p:txBody>
          <a:bodyPr wrap="square">
            <a:spAutoFit/>
          </a:bodyPr>
          <a:lstStyle/>
          <a:p>
            <a:pPr algn="l"/>
            <a:r>
              <a:rPr sz="1200" b="1" i="0">
                <a:solidFill>
                  <a:srgbClr val="FFFFFF"/>
                </a:solidFill>
                <a:latin typeface="Calibri"/>
              </a:rPr>
              <a:t>Bias span</a:t>
            </a:r>
          </a:p>
        </p:txBody>
      </p:sp>
      <p:sp>
        <p:nvSpPr>
          <p:cNvPr id="13" name="Rectangle 12"/>
          <p:cNvSpPr/>
          <p:nvPr/>
        </p:nvSpPr>
        <p:spPr>
          <a:xfrm>
            <a:off x="7269480" y="2258568"/>
            <a:ext cx="4617720" cy="566928"/>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269480" y="2258568"/>
            <a:ext cx="64008" cy="566928"/>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0" y="2350008"/>
            <a:ext cx="2011680" cy="475488"/>
          </a:xfrm>
          <a:prstGeom prst="rect">
            <a:avLst/>
          </a:prstGeom>
          <a:noFill/>
        </p:spPr>
        <p:txBody>
          <a:bodyPr wrap="square">
            <a:spAutoFit/>
          </a:bodyPr>
          <a:lstStyle/>
          <a:p>
            <a:pPr algn="l"/>
            <a:r>
              <a:rPr sz="1300" b="1" i="0">
                <a:solidFill>
                  <a:srgbClr val="1A1A1A"/>
                </a:solidFill>
                <a:latin typeface="Calibri"/>
              </a:rPr>
              <a:t>Popularity buckets</a:t>
            </a:r>
          </a:p>
        </p:txBody>
      </p:sp>
      <p:sp>
        <p:nvSpPr>
          <p:cNvPr id="16" name="TextBox 15"/>
          <p:cNvSpPr txBox="1"/>
          <p:nvPr/>
        </p:nvSpPr>
        <p:spPr>
          <a:xfrm>
            <a:off x="9509760" y="2350008"/>
            <a:ext cx="1097280" cy="475488"/>
          </a:xfrm>
          <a:prstGeom prst="rect">
            <a:avLst/>
          </a:prstGeom>
          <a:noFill/>
        </p:spPr>
        <p:txBody>
          <a:bodyPr wrap="square">
            <a:spAutoFit/>
          </a:bodyPr>
          <a:lstStyle/>
          <a:p>
            <a:pPr algn="l"/>
            <a:r>
              <a:rPr sz="1300" b="1" i="0">
                <a:solidFill>
                  <a:srgbClr val="E03A3A"/>
                </a:solidFill>
                <a:latin typeface="Calibri"/>
              </a:rPr>
              <a:t>15.2 units</a:t>
            </a:r>
          </a:p>
        </p:txBody>
      </p:sp>
      <p:sp>
        <p:nvSpPr>
          <p:cNvPr id="17" name="TextBox 16"/>
          <p:cNvSpPr txBox="1"/>
          <p:nvPr/>
        </p:nvSpPr>
        <p:spPr>
          <a:xfrm>
            <a:off x="10607040" y="2350008"/>
            <a:ext cx="1188720" cy="475488"/>
          </a:xfrm>
          <a:prstGeom prst="rect">
            <a:avLst/>
          </a:prstGeom>
          <a:noFill/>
        </p:spPr>
        <p:txBody>
          <a:bodyPr wrap="square">
            <a:spAutoFit/>
          </a:bodyPr>
          <a:lstStyle/>
          <a:p>
            <a:pPr algn="l"/>
            <a:r>
              <a:rPr sz="1300" b="1" i="0">
                <a:solidFill>
                  <a:srgbClr val="E03A3A"/>
                </a:solidFill>
                <a:latin typeface="Calibri"/>
              </a:rPr>
              <a:t>33.9 units</a:t>
            </a:r>
          </a:p>
        </p:txBody>
      </p:sp>
      <p:sp>
        <p:nvSpPr>
          <p:cNvPr id="18" name="Rectangle 17"/>
          <p:cNvSpPr/>
          <p:nvPr/>
        </p:nvSpPr>
        <p:spPr>
          <a:xfrm>
            <a:off x="7269480" y="2825496"/>
            <a:ext cx="4617720" cy="566928"/>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9480" y="2825496"/>
            <a:ext cx="64008"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0" y="2916936"/>
            <a:ext cx="2011680" cy="475488"/>
          </a:xfrm>
          <a:prstGeom prst="rect">
            <a:avLst/>
          </a:prstGeom>
          <a:noFill/>
        </p:spPr>
        <p:txBody>
          <a:bodyPr wrap="square">
            <a:spAutoFit/>
          </a:bodyPr>
          <a:lstStyle/>
          <a:p>
            <a:pPr algn="l"/>
            <a:r>
              <a:rPr sz="1300" b="0" i="0">
                <a:solidFill>
                  <a:srgbClr val="1A1A1A"/>
                </a:solidFill>
                <a:latin typeface="Calibri"/>
              </a:rPr>
              <a:t>Danceability</a:t>
            </a:r>
          </a:p>
        </p:txBody>
      </p:sp>
      <p:sp>
        <p:nvSpPr>
          <p:cNvPr id="21" name="TextBox 20"/>
          <p:cNvSpPr txBox="1"/>
          <p:nvPr/>
        </p:nvSpPr>
        <p:spPr>
          <a:xfrm>
            <a:off x="9509760" y="2916936"/>
            <a:ext cx="1097280" cy="475488"/>
          </a:xfrm>
          <a:prstGeom prst="rect">
            <a:avLst/>
          </a:prstGeom>
          <a:noFill/>
        </p:spPr>
        <p:txBody>
          <a:bodyPr wrap="square">
            <a:spAutoFit/>
          </a:bodyPr>
          <a:lstStyle/>
          <a:p>
            <a:pPr algn="l"/>
            <a:r>
              <a:rPr sz="1300" b="0" i="0">
                <a:solidFill>
                  <a:srgbClr val="27AE60"/>
                </a:solidFill>
                <a:latin typeface="Calibri"/>
              </a:rPr>
              <a:t>3.1 units</a:t>
            </a:r>
          </a:p>
        </p:txBody>
      </p:sp>
      <p:sp>
        <p:nvSpPr>
          <p:cNvPr id="22" name="TextBox 21"/>
          <p:cNvSpPr txBox="1"/>
          <p:nvPr/>
        </p:nvSpPr>
        <p:spPr>
          <a:xfrm>
            <a:off x="10607040" y="2916936"/>
            <a:ext cx="1188720" cy="475488"/>
          </a:xfrm>
          <a:prstGeom prst="rect">
            <a:avLst/>
          </a:prstGeom>
          <a:noFill/>
        </p:spPr>
        <p:txBody>
          <a:bodyPr wrap="square">
            <a:spAutoFit/>
          </a:bodyPr>
          <a:lstStyle/>
          <a:p>
            <a:pPr algn="l"/>
            <a:r>
              <a:rPr sz="1300" b="0" i="0">
                <a:solidFill>
                  <a:srgbClr val="27AE60"/>
                </a:solidFill>
                <a:latin typeface="Calibri"/>
              </a:rPr>
              <a:t>1.1 units</a:t>
            </a:r>
          </a:p>
        </p:txBody>
      </p:sp>
      <p:sp>
        <p:nvSpPr>
          <p:cNvPr id="23" name="Rectangle 22"/>
          <p:cNvSpPr/>
          <p:nvPr/>
        </p:nvSpPr>
        <p:spPr>
          <a:xfrm>
            <a:off x="7269480" y="3392424"/>
            <a:ext cx="4617720" cy="566928"/>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69480" y="3392424"/>
            <a:ext cx="64008"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0" y="3483864"/>
            <a:ext cx="2011680" cy="475488"/>
          </a:xfrm>
          <a:prstGeom prst="rect">
            <a:avLst/>
          </a:prstGeom>
          <a:noFill/>
        </p:spPr>
        <p:txBody>
          <a:bodyPr wrap="square">
            <a:spAutoFit/>
          </a:bodyPr>
          <a:lstStyle/>
          <a:p>
            <a:pPr algn="l"/>
            <a:r>
              <a:rPr sz="1300" b="0" i="0">
                <a:solidFill>
                  <a:srgbClr val="1A1A1A"/>
                </a:solidFill>
                <a:latin typeface="Calibri"/>
              </a:rPr>
              <a:t>Energy</a:t>
            </a:r>
          </a:p>
        </p:txBody>
      </p:sp>
      <p:sp>
        <p:nvSpPr>
          <p:cNvPr id="26" name="TextBox 25"/>
          <p:cNvSpPr txBox="1"/>
          <p:nvPr/>
        </p:nvSpPr>
        <p:spPr>
          <a:xfrm>
            <a:off x="9509760" y="3483864"/>
            <a:ext cx="1097280" cy="475488"/>
          </a:xfrm>
          <a:prstGeom prst="rect">
            <a:avLst/>
          </a:prstGeom>
          <a:noFill/>
        </p:spPr>
        <p:txBody>
          <a:bodyPr wrap="square">
            <a:spAutoFit/>
          </a:bodyPr>
          <a:lstStyle/>
          <a:p>
            <a:pPr algn="l"/>
            <a:r>
              <a:rPr sz="1300" b="0" i="0">
                <a:solidFill>
                  <a:srgbClr val="27AE60"/>
                </a:solidFill>
                <a:latin typeface="Calibri"/>
              </a:rPr>
              <a:t>0.3 units</a:t>
            </a:r>
          </a:p>
        </p:txBody>
      </p:sp>
      <p:sp>
        <p:nvSpPr>
          <p:cNvPr id="27" name="TextBox 26"/>
          <p:cNvSpPr txBox="1"/>
          <p:nvPr/>
        </p:nvSpPr>
        <p:spPr>
          <a:xfrm>
            <a:off x="10607040" y="3483864"/>
            <a:ext cx="1188720" cy="475488"/>
          </a:xfrm>
          <a:prstGeom prst="rect">
            <a:avLst/>
          </a:prstGeom>
          <a:noFill/>
        </p:spPr>
        <p:txBody>
          <a:bodyPr wrap="square">
            <a:spAutoFit/>
          </a:bodyPr>
          <a:lstStyle/>
          <a:p>
            <a:pPr algn="l"/>
            <a:r>
              <a:rPr sz="1300" b="0" i="0">
                <a:solidFill>
                  <a:srgbClr val="27AE60"/>
                </a:solidFill>
                <a:latin typeface="Calibri"/>
              </a:rPr>
              <a:t>0.4 units</a:t>
            </a:r>
          </a:p>
        </p:txBody>
      </p:sp>
      <p:sp>
        <p:nvSpPr>
          <p:cNvPr id="28" name="Rectangle 27"/>
          <p:cNvSpPr/>
          <p:nvPr/>
        </p:nvSpPr>
        <p:spPr>
          <a:xfrm>
            <a:off x="7269480" y="3959352"/>
            <a:ext cx="4617720" cy="566928"/>
          </a:xfrm>
          <a:prstGeom prst="rect">
            <a:avLst/>
          </a:prstGeom>
          <a:solidFill>
            <a:srgbClr val="F0F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69480" y="3959352"/>
            <a:ext cx="64008" cy="56692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4050792"/>
            <a:ext cx="2011680" cy="475488"/>
          </a:xfrm>
          <a:prstGeom prst="rect">
            <a:avLst/>
          </a:prstGeom>
          <a:noFill/>
        </p:spPr>
        <p:txBody>
          <a:bodyPr wrap="square">
            <a:spAutoFit/>
          </a:bodyPr>
          <a:lstStyle/>
          <a:p>
            <a:pPr algn="l"/>
            <a:r>
              <a:rPr sz="1300" b="0" i="0">
                <a:solidFill>
                  <a:srgbClr val="1A1A1A"/>
                </a:solidFill>
                <a:latin typeface="Calibri"/>
              </a:rPr>
              <a:t>Tempo</a:t>
            </a:r>
          </a:p>
        </p:txBody>
      </p:sp>
      <p:sp>
        <p:nvSpPr>
          <p:cNvPr id="31" name="TextBox 30"/>
          <p:cNvSpPr txBox="1"/>
          <p:nvPr/>
        </p:nvSpPr>
        <p:spPr>
          <a:xfrm>
            <a:off x="9509760" y="4050792"/>
            <a:ext cx="1097280" cy="475488"/>
          </a:xfrm>
          <a:prstGeom prst="rect">
            <a:avLst/>
          </a:prstGeom>
          <a:noFill/>
        </p:spPr>
        <p:txBody>
          <a:bodyPr wrap="square">
            <a:spAutoFit/>
          </a:bodyPr>
          <a:lstStyle/>
          <a:p>
            <a:pPr algn="l"/>
            <a:r>
              <a:rPr sz="1300" b="0" i="0">
                <a:solidFill>
                  <a:srgbClr val="27AE60"/>
                </a:solidFill>
                <a:latin typeface="Calibri"/>
              </a:rPr>
              <a:t>1.4 units</a:t>
            </a:r>
          </a:p>
        </p:txBody>
      </p:sp>
      <p:sp>
        <p:nvSpPr>
          <p:cNvPr id="32" name="TextBox 31"/>
          <p:cNvSpPr txBox="1"/>
          <p:nvPr/>
        </p:nvSpPr>
        <p:spPr>
          <a:xfrm>
            <a:off x="10607040" y="4050792"/>
            <a:ext cx="1188720" cy="475488"/>
          </a:xfrm>
          <a:prstGeom prst="rect">
            <a:avLst/>
          </a:prstGeom>
          <a:noFill/>
        </p:spPr>
        <p:txBody>
          <a:bodyPr wrap="square">
            <a:spAutoFit/>
          </a:bodyPr>
          <a:lstStyle/>
          <a:p>
            <a:pPr algn="l"/>
            <a:r>
              <a:rPr sz="1300" b="0" i="0">
                <a:solidFill>
                  <a:srgbClr val="27AE60"/>
                </a:solidFill>
                <a:latin typeface="Calibri"/>
              </a:rPr>
              <a:t>0.4 units</a:t>
            </a:r>
          </a:p>
        </p:txBody>
      </p:sp>
      <p:sp>
        <p:nvSpPr>
          <p:cNvPr id="33" name="Rectangle 32"/>
          <p:cNvSpPr/>
          <p:nvPr/>
        </p:nvSpPr>
        <p:spPr>
          <a:xfrm>
            <a:off x="7269480" y="4754880"/>
            <a:ext cx="4617720" cy="169164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269480" y="4754880"/>
            <a:ext cx="4617720" cy="64008"/>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52360" y="4892040"/>
            <a:ext cx="4297680" cy="1463040"/>
          </a:xfrm>
          <a:prstGeom prst="rect">
            <a:avLst/>
          </a:prstGeom>
          <a:noFill/>
        </p:spPr>
        <p:txBody>
          <a:bodyPr wrap="square">
            <a:spAutoFit/>
          </a:bodyPr>
          <a:lstStyle/>
          <a:p>
            <a:pPr algn="l"/>
            <a:r>
              <a:rPr sz="1400" b="1">
                <a:solidFill>
                  <a:srgbClr val="FFFFFF"/>
                </a:solidFill>
                <a:latin typeface="Calibri"/>
              </a:rPr>
              <a:t>15-unit RMSE gap in popularity space.</a:t>
            </a:r>
          </a:p>
          <a:p>
            <a:pPr algn="l"/>
            <a:r>
              <a:rPr sz="1400" b="1">
                <a:solidFill>
                  <a:srgbClr val="27AE60"/>
                </a:solidFill>
                <a:latin typeface="Calibri"/>
              </a:rPr>
              <a:t>3-unit gap in audio space.</a:t>
            </a:r>
          </a:p>
          <a:p>
            <a:pPr algn="l"/>
            <a:r>
              <a:rPr sz="700" b="0">
                <a:solidFill>
                  <a:srgbClr val="FFFFFF"/>
                </a:solidFill>
                <a:latin typeface="Calibri"/>
              </a:rPr>
              <a:t/>
            </a:r>
          </a:p>
          <a:p>
            <a:pPr algn="l"/>
            <a:r>
              <a:rPr sz="1300" b="0">
                <a:solidFill>
                  <a:srgbClr val="CCCCCC"/>
                </a:solidFill>
                <a:latin typeface="Calibri"/>
              </a:rPr>
              <a:t>The loop cannot fix what the data</a:t>
            </a:r>
          </a:p>
          <a:p>
            <a:pPr algn="l"/>
            <a:r>
              <a:rPr sz="1300" b="0">
                <a:solidFill>
                  <a:srgbClr val="CCCCCC"/>
                </a:solidFill>
                <a:latin typeface="Calibri"/>
              </a:rPr>
              <a:t>does not contain.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0292"/>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56032"/>
            <a:ext cx="11430000" cy="777240"/>
          </a:xfrm>
          <a:prstGeom prst="rect">
            <a:avLst/>
          </a:prstGeom>
          <a:noFill/>
        </p:spPr>
        <p:txBody>
          <a:bodyPr wrap="square">
            <a:spAutoFit/>
          </a:bodyPr>
          <a:lstStyle/>
          <a:p>
            <a:pPr algn="l"/>
            <a:r>
              <a:rPr sz="3200" b="1" i="0">
                <a:solidFill>
                  <a:srgbClr val="FFFFFF"/>
                </a:solidFill>
                <a:latin typeface="Calibri"/>
              </a:rPr>
              <a:t>What the Loop Can and Cannot Do</a:t>
            </a:r>
          </a:p>
        </p:txBody>
      </p:sp>
      <p:sp>
        <p:nvSpPr>
          <p:cNvPr id="6" name="TextBox 5"/>
          <p:cNvSpPr txBox="1"/>
          <p:nvPr/>
        </p:nvSpPr>
        <p:spPr>
          <a:xfrm>
            <a:off x="411480" y="868680"/>
            <a:ext cx="11430000" cy="411480"/>
          </a:xfrm>
          <a:prstGeom prst="rect">
            <a:avLst/>
          </a:prstGeom>
          <a:noFill/>
        </p:spPr>
        <p:txBody>
          <a:bodyPr wrap="square">
            <a:spAutoFit/>
          </a:bodyPr>
          <a:lstStyle/>
          <a:p>
            <a:pPr algn="l"/>
            <a:r>
              <a:rPr sz="1500" b="0" i="0">
                <a:solidFill>
                  <a:srgbClr val="1DB954"/>
                </a:solidFill>
                <a:latin typeface="Calibri"/>
              </a:rPr>
              <a:t>Reflection · takeaways · future work</a:t>
            </a:r>
          </a:p>
        </p:txBody>
      </p:sp>
      <p:sp>
        <p:nvSpPr>
          <p:cNvPr id="7" name="Rectangle 6"/>
          <p:cNvSpPr/>
          <p:nvPr/>
        </p:nvSpPr>
        <p:spPr>
          <a:xfrm>
            <a:off x="320040" y="1417320"/>
            <a:ext cx="3611880" cy="5120640"/>
          </a:xfrm>
          <a:prstGeom prst="rect">
            <a:avLst/>
          </a:prstGeom>
          <a:solidFill>
            <a:srgbClr val="F0FF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417320"/>
            <a:ext cx="36118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472184"/>
            <a:ext cx="3392424" cy="384048"/>
          </a:xfrm>
          <a:prstGeom prst="rect">
            <a:avLst/>
          </a:prstGeom>
          <a:noFill/>
        </p:spPr>
        <p:txBody>
          <a:bodyPr wrap="square">
            <a:spAutoFit/>
          </a:bodyPr>
          <a:lstStyle/>
          <a:p>
            <a:pPr algn="l"/>
            <a:r>
              <a:rPr sz="1400" b="1" i="0">
                <a:solidFill>
                  <a:srgbClr val="FFFFFF"/>
                </a:solidFill>
                <a:latin typeface="Calibri"/>
              </a:rPr>
              <a:t>Loop Strengths</a:t>
            </a:r>
          </a:p>
        </p:txBody>
      </p:sp>
      <p:sp>
        <p:nvSpPr>
          <p:cNvPr id="10" name="Rectangle 9"/>
          <p:cNvSpPr/>
          <p:nvPr/>
        </p:nvSpPr>
        <p:spPr>
          <a:xfrm>
            <a:off x="429768" y="2093976"/>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984248"/>
            <a:ext cx="3246120" cy="777240"/>
          </a:xfrm>
          <a:prstGeom prst="rect">
            <a:avLst/>
          </a:prstGeom>
          <a:noFill/>
        </p:spPr>
        <p:txBody>
          <a:bodyPr wrap="square">
            <a:spAutoFit/>
          </a:bodyPr>
          <a:lstStyle/>
          <a:p>
            <a:pPr algn="l"/>
            <a:r>
              <a:rPr sz="1300" b="0" i="0">
                <a:solidFill>
                  <a:srgbClr val="1A1A1A"/>
                </a:solidFill>
                <a:latin typeface="Calibri"/>
              </a:rPr>
              <a:t>Zero crashes across 16 experiments</a:t>
            </a:r>
          </a:p>
        </p:txBody>
      </p:sp>
      <p:sp>
        <p:nvSpPr>
          <p:cNvPr id="12" name="Rectangle 11"/>
          <p:cNvSpPr/>
          <p:nvPr/>
        </p:nvSpPr>
        <p:spPr>
          <a:xfrm>
            <a:off x="429768" y="2935224"/>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 y="2825496"/>
            <a:ext cx="3246120" cy="777240"/>
          </a:xfrm>
          <a:prstGeom prst="rect">
            <a:avLst/>
          </a:prstGeom>
          <a:noFill/>
        </p:spPr>
        <p:txBody>
          <a:bodyPr wrap="square">
            <a:spAutoFit/>
          </a:bodyPr>
          <a:lstStyle/>
          <a:p>
            <a:pPr algn="l"/>
            <a:r>
              <a:rPr sz="1300" b="0" i="0">
                <a:solidFill>
                  <a:srgbClr val="1A1A1A"/>
                </a:solidFill>
                <a:latin typeface="Calibri"/>
              </a:rPr>
              <a:t>Correct rollbacks on every revert</a:t>
            </a:r>
          </a:p>
        </p:txBody>
      </p:sp>
      <p:sp>
        <p:nvSpPr>
          <p:cNvPr id="14" name="Rectangle 13"/>
          <p:cNvSpPr/>
          <p:nvPr/>
        </p:nvSpPr>
        <p:spPr>
          <a:xfrm>
            <a:off x="429768" y="3776472"/>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3666744"/>
            <a:ext cx="3246120" cy="777240"/>
          </a:xfrm>
          <a:prstGeom prst="rect">
            <a:avLst/>
          </a:prstGeom>
          <a:noFill/>
        </p:spPr>
        <p:txBody>
          <a:bodyPr wrap="square">
            <a:spAutoFit/>
          </a:bodyPr>
          <a:lstStyle/>
          <a:p>
            <a:pPr algn="l"/>
            <a:r>
              <a:rPr sz="1300" b="0" i="0">
                <a:solidFill>
                  <a:srgbClr val="1A1A1A"/>
                </a:solidFill>
                <a:latin typeface="Calibri"/>
              </a:rPr>
              <a:t>Identified diminishing returns accurately</a:t>
            </a:r>
          </a:p>
        </p:txBody>
      </p:sp>
      <p:sp>
        <p:nvSpPr>
          <p:cNvPr id="16" name="Rectangle 15"/>
          <p:cNvSpPr/>
          <p:nvPr/>
        </p:nvSpPr>
        <p:spPr>
          <a:xfrm>
            <a:off x="429768" y="4617720"/>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4507992"/>
            <a:ext cx="3246120" cy="777240"/>
          </a:xfrm>
          <a:prstGeom prst="rect">
            <a:avLst/>
          </a:prstGeom>
          <a:noFill/>
        </p:spPr>
        <p:txBody>
          <a:bodyPr wrap="square">
            <a:spAutoFit/>
          </a:bodyPr>
          <a:lstStyle/>
          <a:p>
            <a:pPr algn="l"/>
            <a:r>
              <a:rPr sz="1300" b="0" i="0">
                <a:solidFill>
                  <a:srgbClr val="1A1A1A"/>
                </a:solidFill>
                <a:latin typeface="Calibri"/>
              </a:rPr>
              <a:t>Applied log transforms correctly
(zero-inflated features only)</a:t>
            </a:r>
          </a:p>
        </p:txBody>
      </p:sp>
      <p:sp>
        <p:nvSpPr>
          <p:cNvPr id="18" name="Rectangle 17"/>
          <p:cNvSpPr/>
          <p:nvPr/>
        </p:nvSpPr>
        <p:spPr>
          <a:xfrm>
            <a:off x="429768" y="5458968"/>
            <a:ext cx="64008" cy="64008"/>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 y="5349240"/>
            <a:ext cx="3246120" cy="777240"/>
          </a:xfrm>
          <a:prstGeom prst="rect">
            <a:avLst/>
          </a:prstGeom>
          <a:noFill/>
        </p:spPr>
        <p:txBody>
          <a:bodyPr wrap="square">
            <a:spAutoFit/>
          </a:bodyPr>
          <a:lstStyle/>
          <a:p>
            <a:pPr algn="l"/>
            <a:r>
              <a:rPr sz="1300" b="0" i="0">
                <a:solidFill>
                  <a:srgbClr val="1A1A1A"/>
                </a:solidFill>
                <a:latin typeface="Calibri"/>
              </a:rPr>
              <a:t>Reproducible RMSE comparisons</a:t>
            </a:r>
          </a:p>
        </p:txBody>
      </p:sp>
      <p:sp>
        <p:nvSpPr>
          <p:cNvPr id="20" name="Rectangle 19"/>
          <p:cNvSpPr/>
          <p:nvPr/>
        </p:nvSpPr>
        <p:spPr>
          <a:xfrm>
            <a:off x="4160520" y="1417320"/>
            <a:ext cx="3611880" cy="5120640"/>
          </a:xfrm>
          <a:prstGeom prst="rect">
            <a:avLst/>
          </a:prstGeom>
          <a:solidFill>
            <a:srgbClr val="FFF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60520" y="1417320"/>
            <a:ext cx="3611880" cy="457200"/>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0248" y="1472184"/>
            <a:ext cx="3392424" cy="384048"/>
          </a:xfrm>
          <a:prstGeom prst="rect">
            <a:avLst/>
          </a:prstGeom>
          <a:noFill/>
        </p:spPr>
        <p:txBody>
          <a:bodyPr wrap="square">
            <a:spAutoFit/>
          </a:bodyPr>
          <a:lstStyle/>
          <a:p>
            <a:pPr algn="l"/>
            <a:r>
              <a:rPr sz="1400" b="1" i="0">
                <a:solidFill>
                  <a:srgbClr val="FFFFFF"/>
                </a:solidFill>
                <a:latin typeface="Calibri"/>
              </a:rPr>
              <a:t>Loop Limits</a:t>
            </a:r>
          </a:p>
        </p:txBody>
      </p:sp>
      <p:sp>
        <p:nvSpPr>
          <p:cNvPr id="23" name="Rectangle 22"/>
          <p:cNvSpPr/>
          <p:nvPr/>
        </p:nvSpPr>
        <p:spPr>
          <a:xfrm>
            <a:off x="4270248" y="2093976"/>
            <a:ext cx="64008" cy="64008"/>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16552" y="1984248"/>
            <a:ext cx="3246120" cy="777240"/>
          </a:xfrm>
          <a:prstGeom prst="rect">
            <a:avLst/>
          </a:prstGeom>
          <a:noFill/>
        </p:spPr>
        <p:txBody>
          <a:bodyPr wrap="square">
            <a:spAutoFit/>
          </a:bodyPr>
          <a:lstStyle/>
          <a:p>
            <a:pPr algn="l"/>
            <a:r>
              <a:rPr sz="1300" b="0" i="0">
                <a:solidFill>
                  <a:srgbClr val="1A1A1A"/>
                </a:solidFill>
                <a:latin typeface="Calibri"/>
              </a:rPr>
              <a:t>Index artifact undetected 5 weeks
(35.8% importance — no self-audit)</a:t>
            </a:r>
          </a:p>
        </p:txBody>
      </p:sp>
      <p:sp>
        <p:nvSpPr>
          <p:cNvPr id="25" name="Rectangle 24"/>
          <p:cNvSpPr/>
          <p:nvPr/>
        </p:nvSpPr>
        <p:spPr>
          <a:xfrm>
            <a:off x="4270248" y="2935224"/>
            <a:ext cx="64008" cy="64008"/>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16552" y="2825496"/>
            <a:ext cx="3246120" cy="777240"/>
          </a:xfrm>
          <a:prstGeom prst="rect">
            <a:avLst/>
          </a:prstGeom>
          <a:noFill/>
        </p:spPr>
        <p:txBody>
          <a:bodyPr wrap="square">
            <a:spAutoFit/>
          </a:bodyPr>
          <a:lstStyle/>
          <a:p>
            <a:pPr algn="l"/>
            <a:r>
              <a:rPr sz="1300" b="0" i="0">
                <a:solidFill>
                  <a:srgbClr val="1A1A1A"/>
                </a:solidFill>
                <a:latin typeface="Calibri"/>
              </a:rPr>
              <a:t>Ran 3 identical interaction experiments
instead of stopping after first fail</a:t>
            </a:r>
          </a:p>
        </p:txBody>
      </p:sp>
      <p:sp>
        <p:nvSpPr>
          <p:cNvPr id="27" name="Rectangle 26"/>
          <p:cNvSpPr/>
          <p:nvPr/>
        </p:nvSpPr>
        <p:spPr>
          <a:xfrm>
            <a:off x="4270248" y="3776472"/>
            <a:ext cx="64008" cy="64008"/>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16552" y="3666744"/>
            <a:ext cx="3246120" cy="777240"/>
          </a:xfrm>
          <a:prstGeom prst="rect">
            <a:avLst/>
          </a:prstGeom>
          <a:noFill/>
        </p:spPr>
        <p:txBody>
          <a:bodyPr wrap="square">
            <a:spAutoFit/>
          </a:bodyPr>
          <a:lstStyle/>
          <a:p>
            <a:pPr algn="l"/>
            <a:r>
              <a:rPr sz="1300" b="0" i="0">
                <a:solidFill>
                  <a:srgbClr val="1A1A1A"/>
                </a:solidFill>
                <a:latin typeface="Calibri"/>
              </a:rPr>
              <a:t>Analysis started in Week 6 — should
have been Week 3</a:t>
            </a:r>
          </a:p>
        </p:txBody>
      </p:sp>
      <p:sp>
        <p:nvSpPr>
          <p:cNvPr id="29" name="Rectangle 28"/>
          <p:cNvSpPr/>
          <p:nvPr/>
        </p:nvSpPr>
        <p:spPr>
          <a:xfrm>
            <a:off x="4270248" y="4617720"/>
            <a:ext cx="64008" cy="64008"/>
          </a:xfrm>
          <a:prstGeom prst="rect">
            <a:avLst/>
          </a:prstGeom>
          <a:solidFill>
            <a:srgbClr val="E0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16552" y="4507992"/>
            <a:ext cx="3246120" cy="777240"/>
          </a:xfrm>
          <a:prstGeom prst="rect">
            <a:avLst/>
          </a:prstGeom>
          <a:noFill/>
        </p:spPr>
        <p:txBody>
          <a:bodyPr wrap="square">
            <a:spAutoFit/>
          </a:bodyPr>
          <a:lstStyle/>
          <a:p>
            <a:pPr algn="l"/>
            <a:r>
              <a:rPr sz="1300" b="0" i="0">
                <a:solidFill>
                  <a:srgbClr val="1A1A1A"/>
                </a:solidFill>
                <a:latin typeface="Calibri"/>
              </a:rPr>
              <a:t>Flat keep/discard rule doesn't weight
evidence by hypothesis replaceability</a:t>
            </a:r>
          </a:p>
        </p:txBody>
      </p:sp>
      <p:sp>
        <p:nvSpPr>
          <p:cNvPr id="31" name="Rectangle 30"/>
          <p:cNvSpPr/>
          <p:nvPr/>
        </p:nvSpPr>
        <p:spPr>
          <a:xfrm>
            <a:off x="8001000" y="1417320"/>
            <a:ext cx="3611880" cy="5120640"/>
          </a:xfrm>
          <a:prstGeom prst="rect">
            <a:avLst/>
          </a:prstGeom>
          <a:solidFill>
            <a:srgbClr val="F0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01000" y="1417320"/>
            <a:ext cx="3611880"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10728" y="1472184"/>
            <a:ext cx="3392424" cy="384048"/>
          </a:xfrm>
          <a:prstGeom prst="rect">
            <a:avLst/>
          </a:prstGeom>
          <a:noFill/>
        </p:spPr>
        <p:txBody>
          <a:bodyPr wrap="square">
            <a:spAutoFit/>
          </a:bodyPr>
          <a:lstStyle/>
          <a:p>
            <a:pPr algn="l"/>
            <a:r>
              <a:rPr sz="1400" b="1" i="0">
                <a:solidFill>
                  <a:srgbClr val="FFFFFF"/>
                </a:solidFill>
                <a:latin typeface="Calibri"/>
              </a:rPr>
              <a:t>Future Work</a:t>
            </a:r>
          </a:p>
        </p:txBody>
      </p:sp>
      <p:sp>
        <p:nvSpPr>
          <p:cNvPr id="34" name="Rectangle 33"/>
          <p:cNvSpPr/>
          <p:nvPr/>
        </p:nvSpPr>
        <p:spPr>
          <a:xfrm>
            <a:off x="8110728" y="2093976"/>
            <a:ext cx="64008"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57032" y="1984248"/>
            <a:ext cx="3246120" cy="777240"/>
          </a:xfrm>
          <a:prstGeom prst="rect">
            <a:avLst/>
          </a:prstGeom>
          <a:noFill/>
        </p:spPr>
        <p:txBody>
          <a:bodyPr wrap="square">
            <a:spAutoFit/>
          </a:bodyPr>
          <a:lstStyle/>
          <a:p>
            <a:pPr algn="l"/>
            <a:r>
              <a:rPr sz="1300" b="0" i="0">
                <a:solidFill>
                  <a:srgbClr val="1A1A1A"/>
                </a:solidFill>
                <a:latin typeface="Calibri"/>
              </a:rPr>
              <a:t>Artist-level features
(follower count, prior release history)</a:t>
            </a:r>
          </a:p>
        </p:txBody>
      </p:sp>
      <p:sp>
        <p:nvSpPr>
          <p:cNvPr id="36" name="Rectangle 35"/>
          <p:cNvSpPr/>
          <p:nvPr/>
        </p:nvSpPr>
        <p:spPr>
          <a:xfrm>
            <a:off x="8110728" y="2935224"/>
            <a:ext cx="64008"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57032" y="2825496"/>
            <a:ext cx="3246120" cy="777240"/>
          </a:xfrm>
          <a:prstGeom prst="rect">
            <a:avLst/>
          </a:prstGeom>
          <a:noFill/>
        </p:spPr>
        <p:txBody>
          <a:bodyPr wrap="square">
            <a:spAutoFit/>
          </a:bodyPr>
          <a:lstStyle/>
          <a:p>
            <a:pPr algn="l"/>
            <a:r>
              <a:rPr sz="1300" b="0" i="0">
                <a:solidFill>
                  <a:srgbClr val="1A1A1A"/>
                </a:solidFill>
                <a:latin typeface="Calibri"/>
              </a:rPr>
              <a:t>Playlist placement signals
(editorial vs. algorithmic)</a:t>
            </a:r>
          </a:p>
        </p:txBody>
      </p:sp>
      <p:sp>
        <p:nvSpPr>
          <p:cNvPr id="38" name="Rectangle 37"/>
          <p:cNvSpPr/>
          <p:nvPr/>
        </p:nvSpPr>
        <p:spPr>
          <a:xfrm>
            <a:off x="8110728" y="3776472"/>
            <a:ext cx="64008"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57032" y="3666744"/>
            <a:ext cx="3246120" cy="777240"/>
          </a:xfrm>
          <a:prstGeom prst="rect">
            <a:avLst/>
          </a:prstGeom>
          <a:noFill/>
        </p:spPr>
        <p:txBody>
          <a:bodyPr wrap="square">
            <a:spAutoFit/>
          </a:bodyPr>
          <a:lstStyle/>
          <a:p>
            <a:pPr algn="l"/>
            <a:r>
              <a:rPr sz="1300" b="0" i="0">
                <a:solidFill>
                  <a:srgbClr val="1A1A1A"/>
                </a:solidFill>
                <a:latin typeface="Calibri"/>
              </a:rPr>
              <a:t>Release context
(label, timing, cultural moment)</a:t>
            </a:r>
          </a:p>
        </p:txBody>
      </p:sp>
      <p:sp>
        <p:nvSpPr>
          <p:cNvPr id="40" name="Rectangle 39"/>
          <p:cNvSpPr/>
          <p:nvPr/>
        </p:nvSpPr>
        <p:spPr>
          <a:xfrm>
            <a:off x="8110728" y="4617720"/>
            <a:ext cx="64008"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57032" y="4507992"/>
            <a:ext cx="3246120" cy="777240"/>
          </a:xfrm>
          <a:prstGeom prst="rect">
            <a:avLst/>
          </a:prstGeom>
          <a:noFill/>
        </p:spPr>
        <p:txBody>
          <a:bodyPr wrap="square">
            <a:spAutoFit/>
          </a:bodyPr>
          <a:lstStyle/>
          <a:p>
            <a:pPr algn="l"/>
            <a:r>
              <a:rPr sz="1300" b="0" i="0">
                <a:solidFill>
                  <a:srgbClr val="1A1A1A"/>
                </a:solidFill>
                <a:latin typeface="Calibri"/>
              </a:rPr>
              <a:t>Social engagement signals</a:t>
            </a:r>
          </a:p>
        </p:txBody>
      </p:sp>
      <p:sp>
        <p:nvSpPr>
          <p:cNvPr id="42" name="Rectangle 41"/>
          <p:cNvSpPr/>
          <p:nvPr/>
        </p:nvSpPr>
        <p:spPr>
          <a:xfrm>
            <a:off x="8110728" y="5458968"/>
            <a:ext cx="64008"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57032" y="5349240"/>
            <a:ext cx="3246120" cy="777240"/>
          </a:xfrm>
          <a:prstGeom prst="rect">
            <a:avLst/>
          </a:prstGeom>
          <a:noFill/>
        </p:spPr>
        <p:txBody>
          <a:bodyPr wrap="square">
            <a:spAutoFit/>
          </a:bodyPr>
          <a:lstStyle/>
          <a:p>
            <a:pPr algn="l"/>
            <a:r>
              <a:rPr sz="1300" b="0" i="0">
                <a:solidFill>
                  <a:srgbClr val="1A1A1A"/>
                </a:solidFill>
                <a:latin typeface="Calibri"/>
              </a:rPr>
              <a:t>Feature audit checkpoint after
first model fit</a:t>
            </a:r>
          </a:p>
        </p:txBody>
      </p:sp>
      <p:sp>
        <p:nvSpPr>
          <p:cNvPr id="44" name="Rectangle 43"/>
          <p:cNvSpPr/>
          <p:nvPr/>
        </p:nvSpPr>
        <p:spPr>
          <a:xfrm>
            <a:off x="320040" y="6675120"/>
            <a:ext cx="11548872" cy="77724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0040" y="6675120"/>
            <a:ext cx="82296" cy="77724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6784848"/>
            <a:ext cx="11365992" cy="594360"/>
          </a:xfrm>
          <a:prstGeom prst="rect">
            <a:avLst/>
          </a:prstGeom>
          <a:noFill/>
        </p:spPr>
        <p:txBody>
          <a:bodyPr wrap="square">
            <a:spAutoFit/>
          </a:bodyPr>
          <a:lstStyle/>
          <a:p>
            <a:pPr algn="ctr"/>
            <a:r>
              <a:rPr sz="1500" b="1" i="0">
                <a:solidFill>
                  <a:srgbClr val="FFFFFF"/>
                </a:solidFill>
                <a:latin typeface="Calibri"/>
              </a:rPr>
              <a:t>Improving prediction required understanding the limits of the data, not building more complex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