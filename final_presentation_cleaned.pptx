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project asked whether numeric audio features — things like energy, danceability, and tempo — can predict how popular a song becomes on Spotify. The short answer is: better than a linear model, but with a hard ceiling that no amount of modeling can break through. That ceiling is the real finding. The 28.7% improvement is the honest, artifact-free number: RMSE drops from 22.06 to 15.72 when the CSV index artifact is excluded.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AutoResearch loop had a simple rule: run an experiment, measure validation RMSE, keep it if it improves, discard it if it doesn't. The loop is fully reproducible — frozen train/validation split, fixed random seed, no external data. That discipline is what makes the 16 RMSE numbers comparable to each other. The loop ran 16 experiments with zero crashes and zero incorrect rollbacks.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trajectory chart shows this cleanly. There is one large step down — the switch to Random Forest — and then the curve flattens. Everything after that first drop produced combined improvement of 0.06 RMSE units across 12 experiments. The loop explored the right directions; it just ran out of signal to exploit. 3 directions were kept (RF adoption, log_duration, log_instrumentalness) and 4 were discarded (alternative models, interaction terms, bounded log transforms, aggressive HP tuning).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most important decision in the entire project was switching from Linear Regression to Random Forest. That one change accounts for 99% of the total improvement. The 28.7% figure is the honest, artifact-free result: RMSE 22.06 → 15.72 after removing the CSV index artifact that was acting as a genre proxy. Everything else — transforms, hyperparameter tuning, alternative ensembles — moved the needle by a combined 0.06 units. If the loop had stopped after Week 2, the result would have been essentially the same.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Documenting failure is as important as documenting success. Three consecutive interaction-term experiments all failed for the same reason — RF already discovers interactions through splits — but the loop ran all three before moving on. That's a structural weakness: the loop executes its checklist rather than updating its beliefs after the first failure. The index artifact (CSV row number acting as genre proxy) was undetected for 5 weeks because the loop had no self-auditing component.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result. The model performs reasonably on the average track but fails dramatically on breakout popular tracks. That's a 2.1× RMSE difference between the medium and high buckets. The high-popularity bucket is where all the interesting prediction happens — and that's exactly where the audio features run out of signal. The missing information is artist reputation, playlist placement, and release context. None of that is in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analysis rules out the alternative explanation — that the model fails because it misreads certain audio profiles. Slicing by any audio feature produces at most 3 units of RMSE variation and near-zero bias. Slicing by popularity produces 15 units of RMSE variation and 34 units of bias swing. The failure is in the popularity dimension, not the audio dimension. No model change, transform, or hyperparameter could have addressed this. The loop hit the ceiling of its own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is good at mechanical discipline and bad at knowing when to stop or what to look at. The index artifact — a CSV row number that acted as a genre proxy — was the highest-importance feature for five weeks because the loop had no self-auditing component. It was only caught when the interpretability analysis ran in Week 6. The fix is procedural: inspect feature importances after the first model fit, run a bucket analysis after Week 3, and build diminishing-returns checkpoints into the loop. The bigger lesson is that the most valuable output of this project was not the RMSE number — it was characterizing exactly why the number cannot get lower.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12188952"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31520"/>
            <a:ext cx="11155680" cy="1463040"/>
          </a:xfrm>
          <a:prstGeom prst="rect">
            <a:avLst/>
          </a:prstGeom>
          <a:noFill/>
        </p:spPr>
        <p:txBody>
          <a:bodyPr wrap="square">
            <a:spAutoFit/>
          </a:bodyPr>
          <a:lstStyle/>
          <a:p>
            <a:pPr algn="l"/>
            <a:r>
              <a:rPr sz="4200" b="1" i="0">
                <a:solidFill>
                  <a:srgbClr val="FFFFFF"/>
                </a:solidFill>
              </a:rPr>
              <a:t>The Limits of Audio-Only Popularity Prediction</a:t>
            </a:r>
          </a:p>
        </p:txBody>
      </p:sp>
      <p:sp>
        <p:nvSpPr>
          <p:cNvPr id="5" name="TextBox 4"/>
          <p:cNvSpPr txBox="1"/>
          <p:nvPr/>
        </p:nvSpPr>
        <p:spPr>
          <a:xfrm>
            <a:off x="548640" y="2194560"/>
            <a:ext cx="11155680" cy="502920"/>
          </a:xfrm>
          <a:prstGeom prst="rect">
            <a:avLst/>
          </a:prstGeom>
          <a:noFill/>
        </p:spPr>
        <p:txBody>
          <a:bodyPr wrap="square">
            <a:spAutoFit/>
          </a:bodyPr>
          <a:lstStyle/>
          <a:p>
            <a:pPr algn="l"/>
            <a:r>
              <a:rPr sz="1800" b="0" i="0">
                <a:solidFill>
                  <a:srgbClr val="1DB954"/>
                </a:solidFill>
              </a:rPr>
              <a:t>An AutoResearch Study  ·  Spotify Track Popularity  ·  Weeks 2–6</a:t>
            </a:r>
          </a:p>
        </p:txBody>
      </p:sp>
      <p:sp>
        <p:nvSpPr>
          <p:cNvPr id="6" name="TextBox 5"/>
          <p:cNvSpPr txBox="1"/>
          <p:nvPr/>
        </p:nvSpPr>
        <p:spPr>
          <a:xfrm>
            <a:off x="548640" y="2670048"/>
            <a:ext cx="11155680" cy="365760"/>
          </a:xfrm>
          <a:prstGeom prst="rect">
            <a:avLst/>
          </a:prstGeom>
          <a:noFill/>
        </p:spPr>
        <p:txBody>
          <a:bodyPr wrap="square">
            <a:spAutoFit/>
          </a:bodyPr>
          <a:lstStyle/>
          <a:p>
            <a:pPr algn="l"/>
            <a:r>
              <a:rPr sz="1400" b="0" i="0">
                <a:solidFill>
                  <a:srgbClr val="AAAAAA"/>
                </a:solidFill>
              </a:rPr>
              <a:t>Emily Yoo  ·  AutoResearch Program</a:t>
            </a:r>
          </a:p>
        </p:txBody>
      </p:sp>
      <p:sp>
        <p:nvSpPr>
          <p:cNvPr id="7" name="Rectangle 6"/>
          <p:cNvSpPr/>
          <p:nvPr/>
        </p:nvSpPr>
        <p:spPr>
          <a:xfrm>
            <a:off x="502920" y="3246120"/>
            <a:ext cx="2651760" cy="1508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4690871"/>
            <a:ext cx="2651760"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337560"/>
            <a:ext cx="2468879" cy="829818"/>
          </a:xfrm>
          <a:prstGeom prst="rect">
            <a:avLst/>
          </a:prstGeom>
          <a:noFill/>
        </p:spPr>
        <p:txBody>
          <a:bodyPr wrap="square">
            <a:spAutoFit/>
          </a:bodyPr>
          <a:lstStyle/>
          <a:p>
            <a:pPr algn="l"/>
            <a:r>
              <a:rPr sz="2600" b="1" i="0">
                <a:solidFill>
                  <a:srgbClr val="FFFFFF"/>
                </a:solidFill>
              </a:rPr>
              <a:t>~114,000</a:t>
            </a:r>
          </a:p>
        </p:txBody>
      </p:sp>
      <p:sp>
        <p:nvSpPr>
          <p:cNvPr id="10" name="TextBox 9"/>
          <p:cNvSpPr txBox="1"/>
          <p:nvPr/>
        </p:nvSpPr>
        <p:spPr>
          <a:xfrm>
            <a:off x="594360" y="4122115"/>
            <a:ext cx="2468879" cy="573328"/>
          </a:xfrm>
          <a:prstGeom prst="rect">
            <a:avLst/>
          </a:prstGeom>
          <a:noFill/>
        </p:spPr>
        <p:txBody>
          <a:bodyPr wrap="square">
            <a:spAutoFit/>
          </a:bodyPr>
          <a:lstStyle/>
          <a:p>
            <a:pPr algn="l"/>
            <a:r>
              <a:rPr sz="1300" b="0" i="0">
                <a:solidFill>
                  <a:srgbClr val="BBBBBB"/>
                </a:solidFill>
              </a:rPr>
              <a:t>Spotify tracks</a:t>
            </a:r>
          </a:p>
        </p:txBody>
      </p:sp>
      <p:sp>
        <p:nvSpPr>
          <p:cNvPr id="11" name="Rectangle 10"/>
          <p:cNvSpPr/>
          <p:nvPr/>
        </p:nvSpPr>
        <p:spPr>
          <a:xfrm>
            <a:off x="3566160" y="3246120"/>
            <a:ext cx="2651760" cy="1508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4690871"/>
            <a:ext cx="2651760"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3337560"/>
            <a:ext cx="2468879" cy="829818"/>
          </a:xfrm>
          <a:prstGeom prst="rect">
            <a:avLst/>
          </a:prstGeom>
          <a:noFill/>
        </p:spPr>
        <p:txBody>
          <a:bodyPr wrap="square">
            <a:spAutoFit/>
          </a:bodyPr>
          <a:lstStyle/>
          <a:p>
            <a:pPr algn="l"/>
            <a:r>
              <a:rPr sz="2600" b="1" i="0">
                <a:solidFill>
                  <a:srgbClr val="FFFFFF"/>
                </a:solidFill>
              </a:rPr>
              <a:t>16</a:t>
            </a:r>
          </a:p>
        </p:txBody>
      </p:sp>
      <p:sp>
        <p:nvSpPr>
          <p:cNvPr id="14" name="TextBox 13"/>
          <p:cNvSpPr txBox="1"/>
          <p:nvPr/>
        </p:nvSpPr>
        <p:spPr>
          <a:xfrm>
            <a:off x="3657600" y="4122115"/>
            <a:ext cx="2468879" cy="573328"/>
          </a:xfrm>
          <a:prstGeom prst="rect">
            <a:avLst/>
          </a:prstGeom>
          <a:noFill/>
        </p:spPr>
        <p:txBody>
          <a:bodyPr wrap="square">
            <a:spAutoFit/>
          </a:bodyPr>
          <a:lstStyle/>
          <a:p>
            <a:pPr algn="l"/>
            <a:r>
              <a:rPr sz="1300" b="0" i="0">
                <a:solidFill>
                  <a:srgbClr val="BBBBBB"/>
                </a:solidFill>
              </a:rPr>
              <a:t>experiments · 5 weeks</a:t>
            </a:r>
          </a:p>
        </p:txBody>
      </p:sp>
      <p:sp>
        <p:nvSpPr>
          <p:cNvPr id="15" name="Rectangle 14"/>
          <p:cNvSpPr/>
          <p:nvPr/>
        </p:nvSpPr>
        <p:spPr>
          <a:xfrm>
            <a:off x="6629400" y="3246120"/>
            <a:ext cx="2651760" cy="1508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29400" y="4690871"/>
            <a:ext cx="2651760"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2468879" cy="829818"/>
          </a:xfrm>
          <a:prstGeom prst="rect">
            <a:avLst/>
          </a:prstGeom>
          <a:noFill/>
        </p:spPr>
        <p:txBody>
          <a:bodyPr wrap="square">
            <a:spAutoFit/>
          </a:bodyPr>
          <a:lstStyle/>
          <a:p>
            <a:pPr algn="l"/>
            <a:r>
              <a:rPr sz="2600" b="1" i="0">
                <a:solidFill>
                  <a:srgbClr val="FFFFFF"/>
                </a:solidFill>
              </a:rPr>
              <a:t>22.06 → 15.72</a:t>
            </a:r>
          </a:p>
        </p:txBody>
      </p:sp>
      <p:sp>
        <p:nvSpPr>
          <p:cNvPr id="18" name="TextBox 17"/>
          <p:cNvSpPr txBox="1"/>
          <p:nvPr/>
        </p:nvSpPr>
        <p:spPr>
          <a:xfrm>
            <a:off x="6720840" y="4122115"/>
            <a:ext cx="2468879" cy="573328"/>
          </a:xfrm>
          <a:prstGeom prst="rect">
            <a:avLst/>
          </a:prstGeom>
          <a:noFill/>
        </p:spPr>
        <p:txBody>
          <a:bodyPr wrap="square">
            <a:spAutoFit/>
          </a:bodyPr>
          <a:lstStyle/>
          <a:p>
            <a:pPr algn="l"/>
            <a:r>
              <a:rPr sz="1300" b="0" i="0">
                <a:solidFill>
                  <a:srgbClr val="BBBBBB"/>
                </a:solidFill>
              </a:rPr>
              <a:t>RMSE  baseline → final</a:t>
            </a:r>
          </a:p>
        </p:txBody>
      </p:sp>
      <p:sp>
        <p:nvSpPr>
          <p:cNvPr id="19" name="Rectangle 18"/>
          <p:cNvSpPr/>
          <p:nvPr/>
        </p:nvSpPr>
        <p:spPr>
          <a:xfrm>
            <a:off x="9692640" y="3246120"/>
            <a:ext cx="2651760" cy="150876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692640" y="4690871"/>
            <a:ext cx="2651760" cy="6400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0" y="3337560"/>
            <a:ext cx="2468879" cy="829818"/>
          </a:xfrm>
          <a:prstGeom prst="rect">
            <a:avLst/>
          </a:prstGeom>
          <a:noFill/>
        </p:spPr>
        <p:txBody>
          <a:bodyPr wrap="square">
            <a:spAutoFit/>
          </a:bodyPr>
          <a:lstStyle/>
          <a:p>
            <a:pPr algn="l"/>
            <a:r>
              <a:rPr sz="3000" b="1" i="0">
                <a:solidFill>
                  <a:srgbClr val="FFFFFF"/>
                </a:solidFill>
              </a:rPr>
              <a:t>28.7%</a:t>
            </a:r>
          </a:p>
        </p:txBody>
      </p:sp>
      <p:sp>
        <p:nvSpPr>
          <p:cNvPr id="22" name="TextBox 21"/>
          <p:cNvSpPr txBox="1"/>
          <p:nvPr/>
        </p:nvSpPr>
        <p:spPr>
          <a:xfrm>
            <a:off x="9784080" y="4122115"/>
            <a:ext cx="2468879" cy="573328"/>
          </a:xfrm>
          <a:prstGeom prst="rect">
            <a:avLst/>
          </a:prstGeom>
          <a:noFill/>
        </p:spPr>
        <p:txBody>
          <a:bodyPr wrap="square">
            <a:spAutoFit/>
          </a:bodyPr>
          <a:lstStyle/>
          <a:p>
            <a:pPr algn="l"/>
            <a:r>
              <a:rPr sz="1300" b="0" i="0">
                <a:solidFill>
                  <a:srgbClr val="BBBBBB"/>
                </a:solidFill>
              </a:rPr>
              <a:t>RMSE improvement  (artifact-free)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The AutoResearch Contract</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How the research loop was structured</a:t>
            </a:r>
          </a:p>
        </p:txBody>
      </p:sp>
      <p:sp>
        <p:nvSpPr>
          <p:cNvPr id="7" name="Rectangle 6"/>
          <p:cNvSpPr/>
          <p:nvPr/>
        </p:nvSpPr>
        <p:spPr>
          <a:xfrm>
            <a:off x="365760" y="1417320"/>
            <a:ext cx="5029200" cy="5074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502920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4754880" cy="347472"/>
          </a:xfrm>
          <a:prstGeom prst="rect">
            <a:avLst/>
          </a:prstGeom>
          <a:noFill/>
        </p:spPr>
        <p:txBody>
          <a:bodyPr wrap="square">
            <a:spAutoFit/>
          </a:bodyPr>
          <a:lstStyle/>
          <a:p>
            <a:pPr algn="l"/>
            <a:r>
              <a:rPr sz="1400" b="1" i="0">
                <a:solidFill>
                  <a:srgbClr val="FFFFFF"/>
                </a:solidFill>
              </a:rPr>
              <a:t>Research Question</a:t>
            </a:r>
          </a:p>
        </p:txBody>
      </p:sp>
      <p:sp>
        <p:nvSpPr>
          <p:cNvPr id="10" name="TextBox 9"/>
          <p:cNvSpPr txBox="1"/>
          <p:nvPr/>
        </p:nvSpPr>
        <p:spPr>
          <a:xfrm>
            <a:off x="502920" y="1920240"/>
            <a:ext cx="4754880" cy="4389120"/>
          </a:xfrm>
          <a:prstGeom prst="rect">
            <a:avLst/>
          </a:prstGeom>
          <a:noFill/>
        </p:spPr>
        <p:txBody>
          <a:bodyPr wrap="square">
            <a:spAutoFit/>
          </a:bodyPr>
          <a:lstStyle/>
          <a:p>
            <a:pPr algn="l"/>
            <a:r>
              <a:rPr sz="1500" b="0">
                <a:solidFill>
                  <a:srgbClr val="FFFFFF"/>
                </a:solidFill>
              </a:rPr>
              <a:t>Can Spotify popularity be predicted</a:t>
            </a:r>
          </a:p>
          <a:p>
            <a:pPr algn="l"/>
            <a:r>
              <a:rPr sz="1500" b="0">
                <a:solidFill>
                  <a:srgbClr val="FFFFFF"/>
                </a:solidFill>
              </a:rPr>
              <a:t>from numeric audio features alone?</a:t>
            </a:r>
          </a:p>
          <a:p>
            <a:pPr algn="l"/>
            <a:r>
              <a:rPr sz="1500" b="0">
                <a:solidFill>
                  <a:srgbClr val="FFFFFF"/>
                </a:solidFill>
              </a:rPr>
              <a:t/>
            </a:r>
          </a:p>
          <a:p>
            <a:pPr algn="l"/>
            <a:r>
              <a:rPr sz="1500" b="0">
                <a:solidFill>
                  <a:srgbClr val="AAAAAA"/>
                </a:solidFill>
              </a:rPr>
              <a:t>13 audio features  ·  114k tracks</a:t>
            </a:r>
          </a:p>
          <a:p>
            <a:pPr algn="l"/>
            <a:r>
              <a:rPr sz="1500" b="0">
                <a:solidFill>
                  <a:srgbClr val="AAAAAA"/>
                </a:solidFill>
              </a:rPr>
              <a:t>Target: popularity (0–100)</a:t>
            </a:r>
          </a:p>
          <a:p>
            <a:pPr algn="l"/>
            <a:r>
              <a:rPr sz="1500" b="0">
                <a:solidFill>
                  <a:srgbClr val="AAAAAA"/>
                </a:solidFill>
              </a:rPr>
              <a:t>Evaluation: validation RMSE</a:t>
            </a:r>
          </a:p>
          <a:p>
            <a:pPr algn="l"/>
            <a:r>
              <a:rPr sz="1500" b="0">
                <a:solidFill>
                  <a:srgbClr val="AAAAAA"/>
                </a:solidFill>
              </a:rPr>
              <a:t>Fixed random seed, frozen split</a:t>
            </a:r>
          </a:p>
        </p:txBody>
      </p:sp>
      <p:sp>
        <p:nvSpPr>
          <p:cNvPr id="11" name="Rectangle 10"/>
          <p:cNvSpPr/>
          <p:nvPr/>
        </p:nvSpPr>
        <p:spPr>
          <a:xfrm>
            <a:off x="5760720" y="1417320"/>
            <a:ext cx="6035040" cy="5074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60720" y="1417320"/>
            <a:ext cx="603504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97880" y="1463040"/>
            <a:ext cx="5760720" cy="347472"/>
          </a:xfrm>
          <a:prstGeom prst="rect">
            <a:avLst/>
          </a:prstGeom>
          <a:noFill/>
        </p:spPr>
        <p:txBody>
          <a:bodyPr wrap="square">
            <a:spAutoFit/>
          </a:bodyPr>
          <a:lstStyle/>
          <a:p>
            <a:pPr algn="l"/>
            <a:r>
              <a:rPr sz="1400" b="1" i="0">
                <a:solidFill>
                  <a:srgbClr val="FFFFFF"/>
                </a:solidFill>
              </a:rPr>
              <a:t>The Keep / Discard / Crash Loop</a:t>
            </a:r>
          </a:p>
        </p:txBody>
      </p:sp>
      <p:sp>
        <p:nvSpPr>
          <p:cNvPr id="14" name="Rectangle 13"/>
          <p:cNvSpPr/>
          <p:nvPr/>
        </p:nvSpPr>
        <p:spPr>
          <a:xfrm>
            <a:off x="6446520" y="1938528"/>
            <a:ext cx="4937760" cy="548640"/>
          </a:xfrm>
          <a:prstGeom prst="rect">
            <a:avLst/>
          </a:prstGeom>
          <a:solidFill>
            <a:srgbClr val="1A1A1A"/>
          </a:solidFill>
          <a:ln w="19050">
            <a:solidFill>
              <a:srgbClr val="1DB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2011680"/>
            <a:ext cx="4754880" cy="402335"/>
          </a:xfrm>
          <a:prstGeom prst="rect">
            <a:avLst/>
          </a:prstGeom>
          <a:noFill/>
        </p:spPr>
        <p:txBody>
          <a:bodyPr wrap="square">
            <a:spAutoFit/>
          </a:bodyPr>
          <a:lstStyle/>
          <a:p>
            <a:pPr algn="ctr"/>
            <a:r>
              <a:rPr sz="1400" b="1" i="0">
                <a:solidFill>
                  <a:srgbClr val="1DB954"/>
                </a:solidFill>
              </a:rPr>
              <a:t>Run Experiment</a:t>
            </a:r>
          </a:p>
        </p:txBody>
      </p:sp>
      <p:sp>
        <p:nvSpPr>
          <p:cNvPr id="16" name="Rectangle 15"/>
          <p:cNvSpPr/>
          <p:nvPr/>
        </p:nvSpPr>
        <p:spPr>
          <a:xfrm>
            <a:off x="6446520" y="2697480"/>
            <a:ext cx="4937760" cy="548640"/>
          </a:xfrm>
          <a:prstGeom prst="rect">
            <a:avLst/>
          </a:prstGeom>
          <a:solidFill>
            <a:srgbClr val="1A1A1A"/>
          </a:solidFill>
          <a:ln w="19050">
            <a:solidFill>
              <a:srgbClr val="1DB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59" y="2770632"/>
            <a:ext cx="4754880" cy="402335"/>
          </a:xfrm>
          <a:prstGeom prst="rect">
            <a:avLst/>
          </a:prstGeom>
          <a:noFill/>
        </p:spPr>
        <p:txBody>
          <a:bodyPr wrap="square">
            <a:spAutoFit/>
          </a:bodyPr>
          <a:lstStyle/>
          <a:p>
            <a:pPr algn="ctr"/>
            <a:r>
              <a:rPr sz="1400" b="1" i="0">
                <a:solidFill>
                  <a:srgbClr val="FFFFFF"/>
                </a:solidFill>
              </a:rPr>
              <a:t>Measure Validation RMSE</a:t>
            </a:r>
          </a:p>
        </p:txBody>
      </p:sp>
      <p:sp>
        <p:nvSpPr>
          <p:cNvPr id="18" name="Rectangle 17"/>
          <p:cNvSpPr/>
          <p:nvPr/>
        </p:nvSpPr>
        <p:spPr>
          <a:xfrm>
            <a:off x="6446520" y="3456432"/>
            <a:ext cx="4937760" cy="548640"/>
          </a:xfrm>
          <a:prstGeom prst="rect">
            <a:avLst/>
          </a:prstGeom>
          <a:solidFill>
            <a:srgbClr val="1A1A1A"/>
          </a:solidFill>
          <a:ln w="19050">
            <a:solidFill>
              <a:srgbClr val="1DB9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59" y="3529584"/>
            <a:ext cx="4754880" cy="402335"/>
          </a:xfrm>
          <a:prstGeom prst="rect">
            <a:avLst/>
          </a:prstGeom>
          <a:noFill/>
        </p:spPr>
        <p:txBody>
          <a:bodyPr wrap="square">
            <a:spAutoFit/>
          </a:bodyPr>
          <a:lstStyle/>
          <a:p>
            <a:pPr algn="ctr"/>
            <a:r>
              <a:rPr sz="1400" b="1" i="0">
                <a:solidFill>
                  <a:srgbClr val="FFBB00"/>
                </a:solidFill>
              </a:rPr>
              <a:t>RMSE improved?</a:t>
            </a:r>
          </a:p>
        </p:txBody>
      </p:sp>
      <p:sp>
        <p:nvSpPr>
          <p:cNvPr id="20" name="Rectangle 19"/>
          <p:cNvSpPr/>
          <p:nvPr/>
        </p:nvSpPr>
        <p:spPr>
          <a:xfrm>
            <a:off x="8778240" y="2487168"/>
            <a:ext cx="45720" cy="210312"/>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778240" y="3246120"/>
            <a:ext cx="45720" cy="210312"/>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52160" y="4187952"/>
            <a:ext cx="2240280" cy="594360"/>
          </a:xfrm>
          <a:prstGeom prst="rect">
            <a:avLst/>
          </a:prstGeom>
          <a:solidFill>
            <a:srgbClr val="158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70448" y="4242816"/>
            <a:ext cx="2203704" cy="502920"/>
          </a:xfrm>
          <a:prstGeom prst="rect">
            <a:avLst/>
          </a:prstGeom>
          <a:noFill/>
        </p:spPr>
        <p:txBody>
          <a:bodyPr wrap="square">
            <a:spAutoFit/>
          </a:bodyPr>
          <a:lstStyle/>
          <a:p>
            <a:pPr algn="ctr"/>
            <a:r>
              <a:rPr sz="1200" b="1" i="0">
                <a:solidFill>
                  <a:srgbClr val="FFFFFF"/>
                </a:solidFill>
              </a:rPr>
              <a:t>✓  KEEP
Retain change</a:t>
            </a:r>
          </a:p>
        </p:txBody>
      </p:sp>
      <p:sp>
        <p:nvSpPr>
          <p:cNvPr id="24" name="Rectangle 23"/>
          <p:cNvSpPr/>
          <p:nvPr/>
        </p:nvSpPr>
        <p:spPr>
          <a:xfrm>
            <a:off x="9235440" y="4187952"/>
            <a:ext cx="2240280" cy="594360"/>
          </a:xfrm>
          <a:prstGeom prst="rect">
            <a:avLst/>
          </a:prstGeom>
          <a:solidFill>
            <a:srgbClr val="88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3728" y="4242816"/>
            <a:ext cx="2203704" cy="502920"/>
          </a:xfrm>
          <a:prstGeom prst="rect">
            <a:avLst/>
          </a:prstGeom>
          <a:noFill/>
        </p:spPr>
        <p:txBody>
          <a:bodyPr wrap="square">
            <a:spAutoFit/>
          </a:bodyPr>
          <a:lstStyle/>
          <a:p>
            <a:pPr algn="ctr"/>
            <a:r>
              <a:rPr sz="1200" b="1" i="0">
                <a:solidFill>
                  <a:srgbClr val="FFFFFF"/>
                </a:solidFill>
              </a:rPr>
              <a:t>✗  DISCARD
Revert code</a:t>
            </a:r>
          </a:p>
        </p:txBody>
      </p:sp>
      <p:sp>
        <p:nvSpPr>
          <p:cNvPr id="26" name="Rectangle 25"/>
          <p:cNvSpPr/>
          <p:nvPr/>
        </p:nvSpPr>
        <p:spPr>
          <a:xfrm>
            <a:off x="5760720" y="5074920"/>
            <a:ext cx="6035040" cy="11887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5166360"/>
            <a:ext cx="1737360" cy="502920"/>
          </a:xfrm>
          <a:prstGeom prst="rect">
            <a:avLst/>
          </a:prstGeom>
          <a:noFill/>
        </p:spPr>
        <p:txBody>
          <a:bodyPr wrap="square">
            <a:spAutoFit/>
          </a:bodyPr>
          <a:lstStyle/>
          <a:p>
            <a:pPr algn="ctr"/>
            <a:r>
              <a:rPr sz="2600" b="1" i="0">
                <a:solidFill>
                  <a:srgbClr val="1DB954"/>
                </a:solidFill>
              </a:rPr>
              <a:t>16</a:t>
            </a:r>
          </a:p>
        </p:txBody>
      </p:sp>
      <p:sp>
        <p:nvSpPr>
          <p:cNvPr id="28" name="TextBox 27"/>
          <p:cNvSpPr txBox="1"/>
          <p:nvPr/>
        </p:nvSpPr>
        <p:spPr>
          <a:xfrm>
            <a:off x="5943600" y="5687568"/>
            <a:ext cx="1737360" cy="365760"/>
          </a:xfrm>
          <a:prstGeom prst="rect">
            <a:avLst/>
          </a:prstGeom>
          <a:noFill/>
        </p:spPr>
        <p:txBody>
          <a:bodyPr wrap="square">
            <a:spAutoFit/>
          </a:bodyPr>
          <a:lstStyle/>
          <a:p>
            <a:pPr algn="ctr"/>
            <a:r>
              <a:rPr sz="1200" b="0" i="0">
                <a:solidFill>
                  <a:srgbClr val="AAAAAA"/>
                </a:solidFill>
              </a:rPr>
              <a:t>experiments</a:t>
            </a:r>
          </a:p>
        </p:txBody>
      </p:sp>
      <p:sp>
        <p:nvSpPr>
          <p:cNvPr id="29" name="TextBox 28"/>
          <p:cNvSpPr txBox="1"/>
          <p:nvPr/>
        </p:nvSpPr>
        <p:spPr>
          <a:xfrm>
            <a:off x="7863840" y="5166360"/>
            <a:ext cx="1737360" cy="502920"/>
          </a:xfrm>
          <a:prstGeom prst="rect">
            <a:avLst/>
          </a:prstGeom>
          <a:noFill/>
        </p:spPr>
        <p:txBody>
          <a:bodyPr wrap="square">
            <a:spAutoFit/>
          </a:bodyPr>
          <a:lstStyle/>
          <a:p>
            <a:pPr algn="ctr"/>
            <a:r>
              <a:rPr sz="2600" b="1" i="0">
                <a:solidFill>
                  <a:srgbClr val="1DB954"/>
                </a:solidFill>
              </a:rPr>
              <a:t>0</a:t>
            </a:r>
          </a:p>
        </p:txBody>
      </p:sp>
      <p:sp>
        <p:nvSpPr>
          <p:cNvPr id="30" name="TextBox 29"/>
          <p:cNvSpPr txBox="1"/>
          <p:nvPr/>
        </p:nvSpPr>
        <p:spPr>
          <a:xfrm>
            <a:off x="7863840" y="5687568"/>
            <a:ext cx="1737360" cy="365760"/>
          </a:xfrm>
          <a:prstGeom prst="rect">
            <a:avLst/>
          </a:prstGeom>
          <a:noFill/>
        </p:spPr>
        <p:txBody>
          <a:bodyPr wrap="square">
            <a:spAutoFit/>
          </a:bodyPr>
          <a:lstStyle/>
          <a:p>
            <a:pPr algn="ctr"/>
            <a:r>
              <a:rPr sz="1200" b="0" i="0">
                <a:solidFill>
                  <a:srgbClr val="AAAAAA"/>
                </a:solidFill>
              </a:rPr>
              <a:t>crashes</a:t>
            </a:r>
          </a:p>
        </p:txBody>
      </p:sp>
      <p:sp>
        <p:nvSpPr>
          <p:cNvPr id="31" name="TextBox 30"/>
          <p:cNvSpPr txBox="1"/>
          <p:nvPr/>
        </p:nvSpPr>
        <p:spPr>
          <a:xfrm>
            <a:off x="9784080" y="5166360"/>
            <a:ext cx="1737360" cy="502920"/>
          </a:xfrm>
          <a:prstGeom prst="rect">
            <a:avLst/>
          </a:prstGeom>
          <a:noFill/>
        </p:spPr>
        <p:txBody>
          <a:bodyPr wrap="square">
            <a:spAutoFit/>
          </a:bodyPr>
          <a:lstStyle/>
          <a:p>
            <a:pPr algn="ctr"/>
            <a:r>
              <a:rPr sz="2600" b="1" i="0">
                <a:solidFill>
                  <a:srgbClr val="1DB954"/>
                </a:solidFill>
              </a:rPr>
              <a:t>5</a:t>
            </a:r>
          </a:p>
        </p:txBody>
      </p:sp>
      <p:sp>
        <p:nvSpPr>
          <p:cNvPr id="32" name="TextBox 31"/>
          <p:cNvSpPr txBox="1"/>
          <p:nvPr/>
        </p:nvSpPr>
        <p:spPr>
          <a:xfrm>
            <a:off x="9784080" y="5687568"/>
            <a:ext cx="1737360" cy="365760"/>
          </a:xfrm>
          <a:prstGeom prst="rect">
            <a:avLst/>
          </a:prstGeom>
          <a:noFill/>
        </p:spPr>
        <p:txBody>
          <a:bodyPr wrap="square">
            <a:spAutoFit/>
          </a:bodyPr>
          <a:lstStyle/>
          <a:p>
            <a:pPr algn="ctr"/>
            <a:r>
              <a:rPr sz="1200" b="0" i="0">
                <a:solidFill>
                  <a:srgbClr val="AAAAAA"/>
                </a:solidFill>
              </a:rPr>
              <a:t>active weeks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Directions Explored</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16 experiments  ·  6 directions  ·  RMSE trajectory</a:t>
            </a:r>
          </a:p>
        </p:txBody>
      </p:sp>
      <p:sp>
        <p:nvSpPr>
          <p:cNvPr id="7" name="Rectangle 6"/>
          <p:cNvSpPr/>
          <p:nvPr/>
        </p:nvSpPr>
        <p:spPr>
          <a:xfrm>
            <a:off x="320040" y="1444752"/>
            <a:ext cx="4206240" cy="402336"/>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481328"/>
            <a:ext cx="2697480" cy="347472"/>
          </a:xfrm>
          <a:prstGeom prst="rect">
            <a:avLst/>
          </a:prstGeom>
          <a:noFill/>
        </p:spPr>
        <p:txBody>
          <a:bodyPr wrap="square">
            <a:spAutoFit/>
          </a:bodyPr>
          <a:lstStyle/>
          <a:p>
            <a:pPr algn="l"/>
            <a:r>
              <a:rPr sz="1300" b="1" i="0">
                <a:solidFill>
                  <a:srgbClr val="FFFFFF"/>
                </a:solidFill>
              </a:rPr>
              <a:t>Direction</a:t>
            </a:r>
          </a:p>
        </p:txBody>
      </p:sp>
      <p:sp>
        <p:nvSpPr>
          <p:cNvPr id="9" name="TextBox 8"/>
          <p:cNvSpPr txBox="1"/>
          <p:nvPr/>
        </p:nvSpPr>
        <p:spPr>
          <a:xfrm>
            <a:off x="3108960" y="1481328"/>
            <a:ext cx="1508760" cy="347472"/>
          </a:xfrm>
          <a:prstGeom prst="rect">
            <a:avLst/>
          </a:prstGeom>
          <a:noFill/>
        </p:spPr>
        <p:txBody>
          <a:bodyPr wrap="square">
            <a:spAutoFit/>
          </a:bodyPr>
          <a:lstStyle/>
          <a:p>
            <a:pPr algn="l"/>
            <a:r>
              <a:rPr sz="1300" b="1" i="0">
                <a:solidFill>
                  <a:srgbClr val="FFFFFF"/>
                </a:solidFill>
              </a:rPr>
              <a:t>Outcome</a:t>
            </a:r>
          </a:p>
        </p:txBody>
      </p:sp>
      <p:sp>
        <p:nvSpPr>
          <p:cNvPr id="10" name="Rectangle 9"/>
          <p:cNvSpPr/>
          <p:nvPr/>
        </p:nvSpPr>
        <p:spPr>
          <a:xfrm>
            <a:off x="320040" y="1847088"/>
            <a:ext cx="4206240" cy="46634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79" y="1901952"/>
            <a:ext cx="2514600" cy="384048"/>
          </a:xfrm>
          <a:prstGeom prst="rect">
            <a:avLst/>
          </a:prstGeom>
          <a:noFill/>
        </p:spPr>
        <p:txBody>
          <a:bodyPr wrap="square">
            <a:spAutoFit/>
          </a:bodyPr>
          <a:lstStyle/>
          <a:p>
            <a:pPr algn="l"/>
            <a:r>
              <a:rPr sz="1200" b="0" i="0">
                <a:solidFill>
                  <a:srgbClr val="FFFFFF"/>
                </a:solidFill>
              </a:rPr>
              <a:t>RF adoption</a:t>
            </a:r>
          </a:p>
        </p:txBody>
      </p:sp>
      <p:sp>
        <p:nvSpPr>
          <p:cNvPr id="12" name="TextBox 11"/>
          <p:cNvSpPr txBox="1"/>
          <p:nvPr/>
        </p:nvSpPr>
        <p:spPr>
          <a:xfrm>
            <a:off x="3063240" y="1901952"/>
            <a:ext cx="1417319" cy="384048"/>
          </a:xfrm>
          <a:prstGeom prst="rect">
            <a:avLst/>
          </a:prstGeom>
          <a:noFill/>
        </p:spPr>
        <p:txBody>
          <a:bodyPr wrap="square">
            <a:spAutoFit/>
          </a:bodyPr>
          <a:lstStyle/>
          <a:p>
            <a:pPr algn="l"/>
            <a:r>
              <a:rPr sz="1200" b="1" i="0">
                <a:solidFill>
                  <a:srgbClr val="1DB954"/>
                </a:solidFill>
              </a:rPr>
              <a:t>Major gain</a:t>
            </a:r>
          </a:p>
        </p:txBody>
      </p:sp>
      <p:sp>
        <p:nvSpPr>
          <p:cNvPr id="13" name="Rectangle 12"/>
          <p:cNvSpPr/>
          <p:nvPr/>
        </p:nvSpPr>
        <p:spPr>
          <a:xfrm>
            <a:off x="320040" y="2340864"/>
            <a:ext cx="4206240" cy="4663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2395728"/>
            <a:ext cx="2514600" cy="384048"/>
          </a:xfrm>
          <a:prstGeom prst="rect">
            <a:avLst/>
          </a:prstGeom>
          <a:noFill/>
        </p:spPr>
        <p:txBody>
          <a:bodyPr wrap="square">
            <a:spAutoFit/>
          </a:bodyPr>
          <a:lstStyle/>
          <a:p>
            <a:pPr algn="l"/>
            <a:r>
              <a:rPr sz="1200" b="0" i="0">
                <a:solidFill>
                  <a:srgbClr val="FFFFFF"/>
                </a:solidFill>
              </a:rPr>
              <a:t>Hyperparameter tuning</a:t>
            </a:r>
          </a:p>
        </p:txBody>
      </p:sp>
      <p:sp>
        <p:nvSpPr>
          <p:cNvPr id="15" name="TextBox 14"/>
          <p:cNvSpPr txBox="1"/>
          <p:nvPr/>
        </p:nvSpPr>
        <p:spPr>
          <a:xfrm>
            <a:off x="3063240" y="2395728"/>
            <a:ext cx="1417319" cy="384048"/>
          </a:xfrm>
          <a:prstGeom prst="rect">
            <a:avLst/>
          </a:prstGeom>
          <a:noFill/>
        </p:spPr>
        <p:txBody>
          <a:bodyPr wrap="square">
            <a:spAutoFit/>
          </a:bodyPr>
          <a:lstStyle/>
          <a:p>
            <a:pPr algn="l"/>
            <a:r>
              <a:rPr sz="1200" b="1" i="0">
                <a:solidFill>
                  <a:srgbClr val="FFBB00"/>
                </a:solidFill>
              </a:rPr>
              <a:t>Diminishing</a:t>
            </a:r>
          </a:p>
        </p:txBody>
      </p:sp>
      <p:sp>
        <p:nvSpPr>
          <p:cNvPr id="16" name="Rectangle 15"/>
          <p:cNvSpPr/>
          <p:nvPr/>
        </p:nvSpPr>
        <p:spPr>
          <a:xfrm>
            <a:off x="320040" y="2834640"/>
            <a:ext cx="4206240" cy="46634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889504"/>
            <a:ext cx="2514600" cy="384048"/>
          </a:xfrm>
          <a:prstGeom prst="rect">
            <a:avLst/>
          </a:prstGeom>
          <a:noFill/>
        </p:spPr>
        <p:txBody>
          <a:bodyPr wrap="square">
            <a:spAutoFit/>
          </a:bodyPr>
          <a:lstStyle/>
          <a:p>
            <a:pPr algn="l"/>
            <a:r>
              <a:rPr sz="1200" b="0" i="0">
                <a:solidFill>
                  <a:srgbClr val="FFFFFF"/>
                </a:solidFill>
              </a:rPr>
              <a:t>Feature engineering</a:t>
            </a:r>
          </a:p>
        </p:txBody>
      </p:sp>
      <p:sp>
        <p:nvSpPr>
          <p:cNvPr id="18" name="TextBox 17"/>
          <p:cNvSpPr txBox="1"/>
          <p:nvPr/>
        </p:nvSpPr>
        <p:spPr>
          <a:xfrm>
            <a:off x="3063240" y="2889504"/>
            <a:ext cx="1417319" cy="384048"/>
          </a:xfrm>
          <a:prstGeom prst="rect">
            <a:avLst/>
          </a:prstGeom>
          <a:noFill/>
        </p:spPr>
        <p:txBody>
          <a:bodyPr wrap="square">
            <a:spAutoFit/>
          </a:bodyPr>
          <a:lstStyle/>
          <a:p>
            <a:pPr algn="l"/>
            <a:r>
              <a:rPr sz="1200" b="1" i="0">
                <a:solidFill>
                  <a:srgbClr val="FFBB00"/>
                </a:solidFill>
              </a:rPr>
              <a:t>Minimal gain</a:t>
            </a:r>
          </a:p>
        </p:txBody>
      </p:sp>
      <p:sp>
        <p:nvSpPr>
          <p:cNvPr id="19" name="Rectangle 18"/>
          <p:cNvSpPr/>
          <p:nvPr/>
        </p:nvSpPr>
        <p:spPr>
          <a:xfrm>
            <a:off x="320040" y="3328416"/>
            <a:ext cx="4206240" cy="4663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79" y="3383280"/>
            <a:ext cx="2514600" cy="384048"/>
          </a:xfrm>
          <a:prstGeom prst="rect">
            <a:avLst/>
          </a:prstGeom>
          <a:noFill/>
        </p:spPr>
        <p:txBody>
          <a:bodyPr wrap="square">
            <a:spAutoFit/>
          </a:bodyPr>
          <a:lstStyle/>
          <a:p>
            <a:pPr algn="l"/>
            <a:r>
              <a:rPr sz="1200" b="0" i="0">
                <a:solidFill>
                  <a:srgbClr val="FFFFFF"/>
                </a:solidFill>
              </a:rPr>
              <a:t>Alt. model families</a:t>
            </a:r>
          </a:p>
        </p:txBody>
      </p:sp>
      <p:sp>
        <p:nvSpPr>
          <p:cNvPr id="21" name="TextBox 20"/>
          <p:cNvSpPr txBox="1"/>
          <p:nvPr/>
        </p:nvSpPr>
        <p:spPr>
          <a:xfrm>
            <a:off x="3063240" y="3383280"/>
            <a:ext cx="1417319" cy="384048"/>
          </a:xfrm>
          <a:prstGeom prst="rect">
            <a:avLst/>
          </a:prstGeom>
          <a:noFill/>
        </p:spPr>
        <p:txBody>
          <a:bodyPr wrap="square">
            <a:spAutoFit/>
          </a:bodyPr>
          <a:lstStyle/>
          <a:p>
            <a:pPr algn="l"/>
            <a:r>
              <a:rPr sz="1200" b="1" i="0">
                <a:solidFill>
                  <a:srgbClr val="FF4444"/>
                </a:solidFill>
              </a:rPr>
              <a:t>Discarded</a:t>
            </a:r>
          </a:p>
        </p:txBody>
      </p:sp>
      <p:sp>
        <p:nvSpPr>
          <p:cNvPr id="22" name="Rectangle 21"/>
          <p:cNvSpPr/>
          <p:nvPr/>
        </p:nvSpPr>
        <p:spPr>
          <a:xfrm>
            <a:off x="320040" y="3822191"/>
            <a:ext cx="4206240" cy="46634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3877055"/>
            <a:ext cx="2514600" cy="384048"/>
          </a:xfrm>
          <a:prstGeom prst="rect">
            <a:avLst/>
          </a:prstGeom>
          <a:noFill/>
        </p:spPr>
        <p:txBody>
          <a:bodyPr wrap="square">
            <a:spAutoFit/>
          </a:bodyPr>
          <a:lstStyle/>
          <a:p>
            <a:pPr algn="l"/>
            <a:r>
              <a:rPr sz="1200" b="0" i="0">
                <a:solidFill>
                  <a:srgbClr val="FFFFFF"/>
                </a:solidFill>
              </a:rPr>
              <a:t>Popularity bucket</a:t>
            </a:r>
          </a:p>
        </p:txBody>
      </p:sp>
      <p:sp>
        <p:nvSpPr>
          <p:cNvPr id="24" name="TextBox 23"/>
          <p:cNvSpPr txBox="1"/>
          <p:nvPr/>
        </p:nvSpPr>
        <p:spPr>
          <a:xfrm>
            <a:off x="3063240" y="3877055"/>
            <a:ext cx="1417319" cy="384048"/>
          </a:xfrm>
          <a:prstGeom prst="rect">
            <a:avLst/>
          </a:prstGeom>
          <a:noFill/>
        </p:spPr>
        <p:txBody>
          <a:bodyPr wrap="square">
            <a:spAutoFit/>
          </a:bodyPr>
          <a:lstStyle/>
          <a:p>
            <a:pPr algn="l"/>
            <a:r>
              <a:rPr sz="1200" b="1" i="0">
                <a:solidFill>
                  <a:srgbClr val="1DB954"/>
                </a:solidFill>
              </a:rPr>
              <a:t>Key insight</a:t>
            </a:r>
          </a:p>
        </p:txBody>
      </p:sp>
      <p:sp>
        <p:nvSpPr>
          <p:cNvPr id="25" name="Rectangle 24"/>
          <p:cNvSpPr/>
          <p:nvPr/>
        </p:nvSpPr>
        <p:spPr>
          <a:xfrm>
            <a:off x="320040" y="4315968"/>
            <a:ext cx="4206240" cy="46634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79" y="4370832"/>
            <a:ext cx="2514600" cy="384048"/>
          </a:xfrm>
          <a:prstGeom prst="rect">
            <a:avLst/>
          </a:prstGeom>
          <a:noFill/>
        </p:spPr>
        <p:txBody>
          <a:bodyPr wrap="square">
            <a:spAutoFit/>
          </a:bodyPr>
          <a:lstStyle/>
          <a:p>
            <a:pPr algn="l"/>
            <a:r>
              <a:rPr sz="1200" b="0" i="0">
                <a:solidFill>
                  <a:srgbClr val="FFFFFF"/>
                </a:solidFill>
              </a:rPr>
              <a:t>Feature bucket</a:t>
            </a:r>
          </a:p>
        </p:txBody>
      </p:sp>
      <p:sp>
        <p:nvSpPr>
          <p:cNvPr id="27" name="TextBox 26"/>
          <p:cNvSpPr txBox="1"/>
          <p:nvPr/>
        </p:nvSpPr>
        <p:spPr>
          <a:xfrm>
            <a:off x="3063240" y="4370832"/>
            <a:ext cx="1417319" cy="384048"/>
          </a:xfrm>
          <a:prstGeom prst="rect">
            <a:avLst/>
          </a:prstGeom>
          <a:noFill/>
        </p:spPr>
        <p:txBody>
          <a:bodyPr wrap="square">
            <a:spAutoFit/>
          </a:bodyPr>
          <a:lstStyle/>
          <a:p>
            <a:pPr algn="l"/>
            <a:r>
              <a:rPr sz="1200" b="1" i="0">
                <a:solidFill>
                  <a:srgbClr val="1DB954"/>
                </a:solidFill>
              </a:rPr>
              <a:t>Key insight</a:t>
            </a:r>
          </a:p>
        </p:txBody>
      </p:sp>
      <p:sp>
        <p:nvSpPr>
          <p:cNvPr id="28" name="Rectangle 27"/>
          <p:cNvSpPr/>
          <p:nvPr/>
        </p:nvSpPr>
        <p:spPr>
          <a:xfrm>
            <a:off x="320040" y="4809744"/>
            <a:ext cx="4206240" cy="46634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4864607"/>
            <a:ext cx="2514600" cy="384048"/>
          </a:xfrm>
          <a:prstGeom prst="rect">
            <a:avLst/>
          </a:prstGeom>
          <a:noFill/>
        </p:spPr>
        <p:txBody>
          <a:bodyPr wrap="square">
            <a:spAutoFit/>
          </a:bodyPr>
          <a:lstStyle/>
          <a:p>
            <a:pPr algn="l"/>
            <a:r>
              <a:rPr sz="1200" b="0" i="0">
                <a:solidFill>
                  <a:srgbClr val="FFFFFF"/>
                </a:solidFill>
              </a:rPr>
              <a:t>Index artifact</a:t>
            </a:r>
          </a:p>
        </p:txBody>
      </p:sp>
      <p:sp>
        <p:nvSpPr>
          <p:cNvPr id="30" name="TextBox 29"/>
          <p:cNvSpPr txBox="1"/>
          <p:nvPr/>
        </p:nvSpPr>
        <p:spPr>
          <a:xfrm>
            <a:off x="3063240" y="4864607"/>
            <a:ext cx="1417319" cy="384048"/>
          </a:xfrm>
          <a:prstGeom prst="rect">
            <a:avLst/>
          </a:prstGeom>
          <a:noFill/>
        </p:spPr>
        <p:txBody>
          <a:bodyPr wrap="square">
            <a:spAutoFit/>
          </a:bodyPr>
          <a:lstStyle/>
          <a:p>
            <a:pPr algn="l"/>
            <a:r>
              <a:rPr sz="1200" b="1" i="0">
                <a:solidFill>
                  <a:srgbClr val="1DB954"/>
                </a:solidFill>
              </a:rPr>
              <a:t>Key insight</a:t>
            </a:r>
          </a:p>
        </p:txBody>
      </p:sp>
      <p:sp>
        <p:nvSpPr>
          <p:cNvPr id="31" name="Rectangle 30"/>
          <p:cNvSpPr/>
          <p:nvPr/>
        </p:nvSpPr>
        <p:spPr>
          <a:xfrm>
            <a:off x="320040" y="5376672"/>
            <a:ext cx="4206240" cy="45720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79" y="5431536"/>
            <a:ext cx="4023359" cy="365760"/>
          </a:xfrm>
          <a:prstGeom prst="rect">
            <a:avLst/>
          </a:prstGeom>
          <a:noFill/>
        </p:spPr>
        <p:txBody>
          <a:bodyPr wrap="square">
            <a:spAutoFit/>
          </a:bodyPr>
          <a:lstStyle/>
          <a:p>
            <a:pPr algn="ctr"/>
            <a:r>
              <a:rPr sz="1200" b="1" i="0">
                <a:solidFill>
                  <a:srgbClr val="FFFFFF"/>
                </a:solidFill>
              </a:rPr>
              <a:t>3 kept  ·  4 discarded  ·  16 experiments total</a:t>
            </a:r>
          </a:p>
        </p:txBody>
      </p:sp>
      <p:pic>
        <p:nvPicPr>
          <p:cNvPr id="33" name="Picture 32" descr="metric_trajectory.png"/>
          <p:cNvPicPr>
            <a:picLocks noChangeAspect="1"/>
          </p:cNvPicPr>
          <p:nvPr/>
        </p:nvPicPr>
        <p:blipFill>
          <a:blip r:embed="rId2"/>
          <a:stretch>
            <a:fillRect/>
          </a:stretch>
        </p:blipFill>
        <p:spPr>
          <a:xfrm>
            <a:off x="4709160" y="1389888"/>
            <a:ext cx="7296912" cy="519379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Stable Value</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What produced real, reproducible improvement</a:t>
            </a:r>
          </a:p>
        </p:txBody>
      </p:sp>
      <p:pic>
        <p:nvPicPr>
          <p:cNvPr id="7" name="Picture 6" descr="metric_over_time.png"/>
          <p:cNvPicPr>
            <a:picLocks noChangeAspect="1"/>
          </p:cNvPicPr>
          <p:nvPr/>
        </p:nvPicPr>
        <p:blipFill>
          <a:blip r:embed="rId2"/>
          <a:stretch>
            <a:fillRect/>
          </a:stretch>
        </p:blipFill>
        <p:spPr>
          <a:xfrm>
            <a:off x="274320" y="1389888"/>
            <a:ext cx="6675120" cy="5120640"/>
          </a:xfrm>
          <a:prstGeom prst="rect">
            <a:avLst/>
          </a:prstGeom>
        </p:spPr>
      </p:pic>
      <p:sp>
        <p:nvSpPr>
          <p:cNvPr id="8" name="Rectangle 7"/>
          <p:cNvSpPr/>
          <p:nvPr/>
        </p:nvSpPr>
        <p:spPr>
          <a:xfrm>
            <a:off x="7178040" y="1417320"/>
            <a:ext cx="4709160" cy="1417320"/>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87768" y="1490472"/>
            <a:ext cx="4489704" cy="779526"/>
          </a:xfrm>
          <a:prstGeom prst="rect">
            <a:avLst/>
          </a:prstGeom>
          <a:noFill/>
        </p:spPr>
        <p:txBody>
          <a:bodyPr wrap="square">
            <a:spAutoFit/>
          </a:bodyPr>
          <a:lstStyle/>
          <a:p>
            <a:pPr algn="ctr"/>
            <a:r>
              <a:rPr sz="4400" b="1" i="0">
                <a:solidFill>
                  <a:srgbClr val="FFFFFF"/>
                </a:solidFill>
              </a:rPr>
              <a:t>28.7%</a:t>
            </a:r>
          </a:p>
        </p:txBody>
      </p:sp>
      <p:sp>
        <p:nvSpPr>
          <p:cNvPr id="10" name="TextBox 9"/>
          <p:cNvSpPr txBox="1"/>
          <p:nvPr/>
        </p:nvSpPr>
        <p:spPr>
          <a:xfrm>
            <a:off x="7287768" y="2196846"/>
            <a:ext cx="4489704" cy="566928"/>
          </a:xfrm>
          <a:prstGeom prst="rect">
            <a:avLst/>
          </a:prstGeom>
          <a:noFill/>
        </p:spPr>
        <p:txBody>
          <a:bodyPr wrap="square">
            <a:spAutoFit/>
          </a:bodyPr>
          <a:lstStyle/>
          <a:p>
            <a:pPr algn="ctr"/>
            <a:r>
              <a:rPr sz="1400" b="0" i="0">
                <a:solidFill>
                  <a:srgbClr val="FFFFFF"/>
                </a:solidFill>
              </a:rPr>
              <a:t>RMSE improvement  (artifact-free)</a:t>
            </a:r>
          </a:p>
        </p:txBody>
      </p:sp>
      <p:sp>
        <p:nvSpPr>
          <p:cNvPr id="11" name="Rectangle 10"/>
          <p:cNvSpPr/>
          <p:nvPr/>
        </p:nvSpPr>
        <p:spPr>
          <a:xfrm>
            <a:off x="7178040" y="3017520"/>
            <a:ext cx="470916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79" y="3054096"/>
            <a:ext cx="3108960" cy="329184"/>
          </a:xfrm>
          <a:prstGeom prst="rect">
            <a:avLst/>
          </a:prstGeom>
          <a:noFill/>
        </p:spPr>
        <p:txBody>
          <a:bodyPr wrap="square">
            <a:spAutoFit/>
          </a:bodyPr>
          <a:lstStyle/>
          <a:p>
            <a:pPr algn="l"/>
            <a:r>
              <a:rPr sz="1300" b="1" i="0">
                <a:solidFill>
                  <a:srgbClr val="FFFFFF"/>
                </a:solidFill>
              </a:rPr>
              <a:t>Model</a:t>
            </a:r>
          </a:p>
        </p:txBody>
      </p:sp>
      <p:sp>
        <p:nvSpPr>
          <p:cNvPr id="13" name="TextBox 12"/>
          <p:cNvSpPr txBox="1"/>
          <p:nvPr/>
        </p:nvSpPr>
        <p:spPr>
          <a:xfrm>
            <a:off x="10378440" y="3054096"/>
            <a:ext cx="1371600" cy="329184"/>
          </a:xfrm>
          <a:prstGeom prst="rect">
            <a:avLst/>
          </a:prstGeom>
          <a:noFill/>
        </p:spPr>
        <p:txBody>
          <a:bodyPr wrap="square">
            <a:spAutoFit/>
          </a:bodyPr>
          <a:lstStyle/>
          <a:p>
            <a:pPr algn="l"/>
            <a:r>
              <a:rPr sz="1300" b="1" i="0">
                <a:solidFill>
                  <a:srgbClr val="FFFFFF"/>
                </a:solidFill>
              </a:rPr>
              <a:t>RMSE</a:t>
            </a:r>
          </a:p>
        </p:txBody>
      </p:sp>
      <p:sp>
        <p:nvSpPr>
          <p:cNvPr id="14" name="Rectangle 13"/>
          <p:cNvSpPr/>
          <p:nvPr/>
        </p:nvSpPr>
        <p:spPr>
          <a:xfrm>
            <a:off x="7178040" y="3401568"/>
            <a:ext cx="4709160" cy="621792"/>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79" y="3493008"/>
            <a:ext cx="3108960" cy="457200"/>
          </a:xfrm>
          <a:prstGeom prst="rect">
            <a:avLst/>
          </a:prstGeom>
          <a:noFill/>
        </p:spPr>
        <p:txBody>
          <a:bodyPr wrap="square">
            <a:spAutoFit/>
          </a:bodyPr>
          <a:lstStyle/>
          <a:p>
            <a:pPr algn="l"/>
            <a:r>
              <a:rPr sz="1300" b="0" i="0">
                <a:solidFill>
                  <a:srgbClr val="FFFFFF"/>
                </a:solidFill>
              </a:rPr>
              <a:t>Linear Regression  (baseline)</a:t>
            </a:r>
          </a:p>
        </p:txBody>
      </p:sp>
      <p:sp>
        <p:nvSpPr>
          <p:cNvPr id="16" name="TextBox 15"/>
          <p:cNvSpPr txBox="1"/>
          <p:nvPr/>
        </p:nvSpPr>
        <p:spPr>
          <a:xfrm>
            <a:off x="10378440" y="3493008"/>
            <a:ext cx="1371600" cy="457200"/>
          </a:xfrm>
          <a:prstGeom prst="rect">
            <a:avLst/>
          </a:prstGeom>
          <a:noFill/>
        </p:spPr>
        <p:txBody>
          <a:bodyPr wrap="square">
            <a:spAutoFit/>
          </a:bodyPr>
          <a:lstStyle/>
          <a:p>
            <a:pPr algn="l"/>
            <a:r>
              <a:rPr sz="1300" b="1" i="0">
                <a:solidFill>
                  <a:srgbClr val="FFBB00"/>
                </a:solidFill>
              </a:rPr>
              <a:t>22.06</a:t>
            </a:r>
          </a:p>
        </p:txBody>
      </p:sp>
      <p:sp>
        <p:nvSpPr>
          <p:cNvPr id="17" name="Rectangle 16"/>
          <p:cNvSpPr/>
          <p:nvPr/>
        </p:nvSpPr>
        <p:spPr>
          <a:xfrm>
            <a:off x="7178040" y="4059936"/>
            <a:ext cx="4709160" cy="62179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79" y="4151376"/>
            <a:ext cx="3108960" cy="457200"/>
          </a:xfrm>
          <a:prstGeom prst="rect">
            <a:avLst/>
          </a:prstGeom>
          <a:noFill/>
        </p:spPr>
        <p:txBody>
          <a:bodyPr wrap="square">
            <a:spAutoFit/>
          </a:bodyPr>
          <a:lstStyle/>
          <a:p>
            <a:pPr algn="l"/>
            <a:r>
              <a:rPr sz="1300" b="0" i="0">
                <a:solidFill>
                  <a:srgbClr val="FFFFFF"/>
                </a:solidFill>
              </a:rPr>
              <a:t>Random Forest  (final model)</a:t>
            </a:r>
          </a:p>
        </p:txBody>
      </p:sp>
      <p:sp>
        <p:nvSpPr>
          <p:cNvPr id="19" name="TextBox 18"/>
          <p:cNvSpPr txBox="1"/>
          <p:nvPr/>
        </p:nvSpPr>
        <p:spPr>
          <a:xfrm>
            <a:off x="10378440" y="4151376"/>
            <a:ext cx="1371600" cy="457200"/>
          </a:xfrm>
          <a:prstGeom prst="rect">
            <a:avLst/>
          </a:prstGeom>
          <a:noFill/>
        </p:spPr>
        <p:txBody>
          <a:bodyPr wrap="square">
            <a:spAutoFit/>
          </a:bodyPr>
          <a:lstStyle/>
          <a:p>
            <a:pPr algn="l"/>
            <a:r>
              <a:rPr sz="1300" b="1" i="0">
                <a:solidFill>
                  <a:srgbClr val="1DB954"/>
                </a:solidFill>
              </a:rPr>
              <a:t>15.72</a:t>
            </a:r>
          </a:p>
        </p:txBody>
      </p:sp>
      <p:sp>
        <p:nvSpPr>
          <p:cNvPr id="20" name="Rectangle 19"/>
          <p:cNvSpPr/>
          <p:nvPr/>
        </p:nvSpPr>
        <p:spPr>
          <a:xfrm>
            <a:off x="7178040" y="4846320"/>
            <a:ext cx="4709160" cy="16916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4919472"/>
            <a:ext cx="1280160" cy="420624"/>
          </a:xfrm>
          <a:prstGeom prst="rect">
            <a:avLst/>
          </a:prstGeom>
          <a:noFill/>
        </p:spPr>
        <p:txBody>
          <a:bodyPr wrap="square">
            <a:spAutoFit/>
          </a:bodyPr>
          <a:lstStyle/>
          <a:p>
            <a:pPr algn="l"/>
            <a:r>
              <a:rPr sz="1300" b="1" i="0">
                <a:solidFill>
                  <a:srgbClr val="1DB954"/>
                </a:solidFill>
              </a:rPr>
              <a:t>99%</a:t>
            </a:r>
          </a:p>
        </p:txBody>
      </p:sp>
      <p:sp>
        <p:nvSpPr>
          <p:cNvPr id="22" name="TextBox 21"/>
          <p:cNvSpPr txBox="1"/>
          <p:nvPr/>
        </p:nvSpPr>
        <p:spPr>
          <a:xfrm>
            <a:off x="8641080" y="4919472"/>
            <a:ext cx="3108960" cy="420624"/>
          </a:xfrm>
          <a:prstGeom prst="rect">
            <a:avLst/>
          </a:prstGeom>
          <a:noFill/>
        </p:spPr>
        <p:txBody>
          <a:bodyPr wrap="square">
            <a:spAutoFit/>
          </a:bodyPr>
          <a:lstStyle/>
          <a:p>
            <a:pPr algn="l"/>
            <a:r>
              <a:rPr sz="1200" b="0" i="0">
                <a:solidFill>
                  <a:srgbClr val="BBBBBB"/>
                </a:solidFill>
              </a:rPr>
              <a:t>of total gain from the model-family switch alone</a:t>
            </a:r>
          </a:p>
        </p:txBody>
      </p:sp>
      <p:sp>
        <p:nvSpPr>
          <p:cNvPr id="23" name="TextBox 22"/>
          <p:cNvSpPr txBox="1"/>
          <p:nvPr/>
        </p:nvSpPr>
        <p:spPr>
          <a:xfrm>
            <a:off x="7315200" y="5431536"/>
            <a:ext cx="1280160" cy="420624"/>
          </a:xfrm>
          <a:prstGeom prst="rect">
            <a:avLst/>
          </a:prstGeom>
          <a:noFill/>
        </p:spPr>
        <p:txBody>
          <a:bodyPr wrap="square">
            <a:spAutoFit/>
          </a:bodyPr>
          <a:lstStyle/>
          <a:p>
            <a:pPr algn="l"/>
            <a:r>
              <a:rPr sz="1300" b="1" i="0">
                <a:solidFill>
                  <a:srgbClr val="1DB954"/>
                </a:solidFill>
              </a:rPr>
              <a:t>0.06 RMSE</a:t>
            </a:r>
          </a:p>
        </p:txBody>
      </p:sp>
      <p:sp>
        <p:nvSpPr>
          <p:cNvPr id="24" name="TextBox 23"/>
          <p:cNvSpPr txBox="1"/>
          <p:nvPr/>
        </p:nvSpPr>
        <p:spPr>
          <a:xfrm>
            <a:off x="8641080" y="5431536"/>
            <a:ext cx="3108960" cy="420624"/>
          </a:xfrm>
          <a:prstGeom prst="rect">
            <a:avLst/>
          </a:prstGeom>
          <a:noFill/>
        </p:spPr>
        <p:txBody>
          <a:bodyPr wrap="square">
            <a:spAutoFit/>
          </a:bodyPr>
          <a:lstStyle/>
          <a:p>
            <a:pPr algn="l"/>
            <a:r>
              <a:rPr sz="1200" b="0" i="0">
                <a:solidFill>
                  <a:srgbClr val="BBBBBB"/>
                </a:solidFill>
              </a:rPr>
              <a:t>from all 12 post-RF experiments combined</a:t>
            </a:r>
          </a:p>
        </p:txBody>
      </p:sp>
      <p:sp>
        <p:nvSpPr>
          <p:cNvPr id="25" name="TextBox 24"/>
          <p:cNvSpPr txBox="1"/>
          <p:nvPr/>
        </p:nvSpPr>
        <p:spPr>
          <a:xfrm>
            <a:off x="7315200" y="5943600"/>
            <a:ext cx="1280160" cy="420624"/>
          </a:xfrm>
          <a:prstGeom prst="rect">
            <a:avLst/>
          </a:prstGeom>
          <a:noFill/>
        </p:spPr>
        <p:txBody>
          <a:bodyPr wrap="square">
            <a:spAutoFit/>
          </a:bodyPr>
          <a:lstStyle/>
          <a:p>
            <a:pPr algn="l"/>
            <a:r>
              <a:rPr sz="1300" b="1" i="0">
                <a:solidFill>
                  <a:srgbClr val="1DB954"/>
                </a:solidFill>
              </a:rPr>
              <a:t>7.00 units</a:t>
            </a:r>
          </a:p>
        </p:txBody>
      </p:sp>
      <p:sp>
        <p:nvSpPr>
          <p:cNvPr id="26" name="TextBox 25"/>
          <p:cNvSpPr txBox="1"/>
          <p:nvPr/>
        </p:nvSpPr>
        <p:spPr>
          <a:xfrm>
            <a:off x="8641080" y="5943600"/>
            <a:ext cx="3108960" cy="420624"/>
          </a:xfrm>
          <a:prstGeom prst="rect">
            <a:avLst/>
          </a:prstGeom>
          <a:noFill/>
        </p:spPr>
        <p:txBody>
          <a:bodyPr wrap="square">
            <a:spAutoFit/>
          </a:bodyPr>
          <a:lstStyle/>
          <a:p>
            <a:pPr algn="l"/>
            <a:r>
              <a:rPr sz="1200" b="0" i="0">
                <a:solidFill>
                  <a:srgbClr val="BBBBBB"/>
                </a:solidFill>
              </a:rPr>
              <a:t>RF improvement  vs.  0.04 units everything else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Noise and Failure</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10 of 16 experiments were discarded</a:t>
            </a:r>
          </a:p>
        </p:txBody>
      </p:sp>
      <p:sp>
        <p:nvSpPr>
          <p:cNvPr id="7" name="Rectangle 6"/>
          <p:cNvSpPr/>
          <p:nvPr/>
        </p:nvSpPr>
        <p:spPr>
          <a:xfrm>
            <a:off x="320040" y="1417320"/>
            <a:ext cx="3017520" cy="19202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508760"/>
            <a:ext cx="2834640" cy="1097280"/>
          </a:xfrm>
          <a:prstGeom prst="rect">
            <a:avLst/>
          </a:prstGeom>
          <a:noFill/>
        </p:spPr>
        <p:txBody>
          <a:bodyPr wrap="square">
            <a:spAutoFit/>
          </a:bodyPr>
          <a:lstStyle/>
          <a:p>
            <a:pPr algn="ctr"/>
            <a:r>
              <a:rPr sz="6400" b="1" i="0">
                <a:solidFill>
                  <a:srgbClr val="FF4444"/>
                </a:solidFill>
              </a:rPr>
              <a:t>10/16</a:t>
            </a:r>
          </a:p>
        </p:txBody>
      </p:sp>
      <p:sp>
        <p:nvSpPr>
          <p:cNvPr id="9" name="TextBox 8"/>
          <p:cNvSpPr txBox="1"/>
          <p:nvPr/>
        </p:nvSpPr>
        <p:spPr>
          <a:xfrm>
            <a:off x="411480" y="2606040"/>
            <a:ext cx="2834640" cy="502920"/>
          </a:xfrm>
          <a:prstGeom prst="rect">
            <a:avLst/>
          </a:prstGeom>
          <a:noFill/>
        </p:spPr>
        <p:txBody>
          <a:bodyPr wrap="square">
            <a:spAutoFit/>
          </a:bodyPr>
          <a:lstStyle/>
          <a:p>
            <a:pPr algn="ctr"/>
            <a:r>
              <a:rPr sz="1300" b="0" i="0">
                <a:solidFill>
                  <a:srgbClr val="BBBBBB"/>
                </a:solidFill>
              </a:rPr>
              <a:t>experiments discarded
combined gain: 0.00 RMSE</a:t>
            </a:r>
          </a:p>
        </p:txBody>
      </p:sp>
      <p:sp>
        <p:nvSpPr>
          <p:cNvPr id="10" name="Rectangle 9"/>
          <p:cNvSpPr/>
          <p:nvPr/>
        </p:nvSpPr>
        <p:spPr>
          <a:xfrm>
            <a:off x="3566160" y="1417320"/>
            <a:ext cx="598932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453896"/>
            <a:ext cx="2880360" cy="347472"/>
          </a:xfrm>
          <a:prstGeom prst="rect">
            <a:avLst/>
          </a:prstGeom>
          <a:noFill/>
        </p:spPr>
        <p:txBody>
          <a:bodyPr wrap="square">
            <a:spAutoFit/>
          </a:bodyPr>
          <a:lstStyle/>
          <a:p>
            <a:pPr algn="l"/>
            <a:r>
              <a:rPr sz="1300" b="1" i="0">
                <a:solidFill>
                  <a:srgbClr val="FFFFFF"/>
                </a:solidFill>
              </a:rPr>
              <a:t>Direction</a:t>
            </a:r>
          </a:p>
        </p:txBody>
      </p:sp>
      <p:sp>
        <p:nvSpPr>
          <p:cNvPr id="12" name="TextBox 11"/>
          <p:cNvSpPr txBox="1"/>
          <p:nvPr/>
        </p:nvSpPr>
        <p:spPr>
          <a:xfrm>
            <a:off x="6537959" y="1453896"/>
            <a:ext cx="2286000" cy="347472"/>
          </a:xfrm>
          <a:prstGeom prst="rect">
            <a:avLst/>
          </a:prstGeom>
          <a:noFill/>
        </p:spPr>
        <p:txBody>
          <a:bodyPr wrap="square">
            <a:spAutoFit/>
          </a:bodyPr>
          <a:lstStyle/>
          <a:p>
            <a:pPr algn="l"/>
            <a:r>
              <a:rPr sz="1300" b="1" i="0">
                <a:solidFill>
                  <a:srgbClr val="FFFFFF"/>
                </a:solidFill>
              </a:rPr>
              <a:t>Why discarded</a:t>
            </a:r>
          </a:p>
        </p:txBody>
      </p:sp>
      <p:sp>
        <p:nvSpPr>
          <p:cNvPr id="13" name="TextBox 12"/>
          <p:cNvSpPr txBox="1"/>
          <p:nvPr/>
        </p:nvSpPr>
        <p:spPr>
          <a:xfrm>
            <a:off x="8778240" y="1453896"/>
            <a:ext cx="822960" cy="347472"/>
          </a:xfrm>
          <a:prstGeom prst="rect">
            <a:avLst/>
          </a:prstGeom>
          <a:noFill/>
        </p:spPr>
        <p:txBody>
          <a:bodyPr wrap="square">
            <a:spAutoFit/>
          </a:bodyPr>
          <a:lstStyle/>
          <a:p>
            <a:pPr algn="l"/>
            <a:r>
              <a:rPr sz="1300" b="1" i="0">
                <a:solidFill>
                  <a:srgbClr val="FFFFFF"/>
                </a:solidFill>
              </a:rPr>
              <a:t>ΔRMSE</a:t>
            </a:r>
          </a:p>
        </p:txBody>
      </p:sp>
      <p:sp>
        <p:nvSpPr>
          <p:cNvPr id="14" name="Rectangle 13"/>
          <p:cNvSpPr/>
          <p:nvPr/>
        </p:nvSpPr>
        <p:spPr>
          <a:xfrm>
            <a:off x="3566160" y="1801368"/>
            <a:ext cx="5989320" cy="47548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9312" y="1856231"/>
            <a:ext cx="2715768" cy="393192"/>
          </a:xfrm>
          <a:prstGeom prst="rect">
            <a:avLst/>
          </a:prstGeom>
          <a:noFill/>
        </p:spPr>
        <p:txBody>
          <a:bodyPr wrap="square">
            <a:spAutoFit/>
          </a:bodyPr>
          <a:lstStyle/>
          <a:p>
            <a:pPr algn="l"/>
            <a:r>
              <a:rPr sz="1200" b="0" i="0">
                <a:solidFill>
                  <a:srgbClr val="FFFFFF"/>
                </a:solidFill>
              </a:rPr>
              <a:t>Interaction terms  ×3</a:t>
            </a:r>
          </a:p>
        </p:txBody>
      </p:sp>
      <p:sp>
        <p:nvSpPr>
          <p:cNvPr id="16" name="TextBox 15"/>
          <p:cNvSpPr txBox="1"/>
          <p:nvPr/>
        </p:nvSpPr>
        <p:spPr>
          <a:xfrm>
            <a:off x="6519672" y="1856231"/>
            <a:ext cx="2121408" cy="393192"/>
          </a:xfrm>
          <a:prstGeom prst="rect">
            <a:avLst/>
          </a:prstGeom>
          <a:noFill/>
        </p:spPr>
        <p:txBody>
          <a:bodyPr wrap="square">
            <a:spAutoFit/>
          </a:bodyPr>
          <a:lstStyle/>
          <a:p>
            <a:pPr algn="l"/>
            <a:r>
              <a:rPr sz="1200" b="0" i="0">
                <a:solidFill>
                  <a:srgbClr val="BBBBBB"/>
                </a:solidFill>
              </a:rPr>
              <a:t>RF finds interactions via splits</a:t>
            </a:r>
          </a:p>
        </p:txBody>
      </p:sp>
      <p:sp>
        <p:nvSpPr>
          <p:cNvPr id="17" name="TextBox 16"/>
          <p:cNvSpPr txBox="1"/>
          <p:nvPr/>
        </p:nvSpPr>
        <p:spPr>
          <a:xfrm>
            <a:off x="8778240" y="1856231"/>
            <a:ext cx="777240" cy="393192"/>
          </a:xfrm>
          <a:prstGeom prst="rect">
            <a:avLst/>
          </a:prstGeom>
          <a:noFill/>
        </p:spPr>
        <p:txBody>
          <a:bodyPr wrap="square">
            <a:spAutoFit/>
          </a:bodyPr>
          <a:lstStyle/>
          <a:p>
            <a:pPr algn="l"/>
            <a:r>
              <a:rPr sz="1200" b="1" i="0">
                <a:solidFill>
                  <a:srgbClr val="FF4444"/>
                </a:solidFill>
              </a:rPr>
              <a:t>+0.00–+0.02</a:t>
            </a:r>
          </a:p>
        </p:txBody>
      </p:sp>
      <p:sp>
        <p:nvSpPr>
          <p:cNvPr id="18" name="Rectangle 17"/>
          <p:cNvSpPr/>
          <p:nvPr/>
        </p:nvSpPr>
        <p:spPr>
          <a:xfrm>
            <a:off x="3566160" y="2304288"/>
            <a:ext cx="5989320" cy="4754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39312" y="2359152"/>
            <a:ext cx="2715768" cy="393192"/>
          </a:xfrm>
          <a:prstGeom prst="rect">
            <a:avLst/>
          </a:prstGeom>
          <a:noFill/>
        </p:spPr>
        <p:txBody>
          <a:bodyPr wrap="square">
            <a:spAutoFit/>
          </a:bodyPr>
          <a:lstStyle/>
          <a:p>
            <a:pPr algn="l"/>
            <a:r>
              <a:rPr sz="1200" b="0" i="0">
                <a:solidFill>
                  <a:srgbClr val="FFFFFF"/>
                </a:solidFill>
              </a:rPr>
              <a:t>HistGradientBoosting  ×2</a:t>
            </a:r>
          </a:p>
        </p:txBody>
      </p:sp>
      <p:sp>
        <p:nvSpPr>
          <p:cNvPr id="20" name="TextBox 19"/>
          <p:cNvSpPr txBox="1"/>
          <p:nvPr/>
        </p:nvSpPr>
        <p:spPr>
          <a:xfrm>
            <a:off x="6519672" y="2359152"/>
            <a:ext cx="2121408" cy="393192"/>
          </a:xfrm>
          <a:prstGeom prst="rect">
            <a:avLst/>
          </a:prstGeom>
          <a:noFill/>
        </p:spPr>
        <p:txBody>
          <a:bodyPr wrap="square">
            <a:spAutoFit/>
          </a:bodyPr>
          <a:lstStyle/>
          <a:p>
            <a:pPr algn="l"/>
            <a:r>
              <a:rPr sz="1200" b="0" i="0">
                <a:solidFill>
                  <a:srgbClr val="BBBBBB"/>
                </a:solidFill>
              </a:rPr>
              <a:t>Worse than RF even when tuned</a:t>
            </a:r>
          </a:p>
        </p:txBody>
      </p:sp>
      <p:sp>
        <p:nvSpPr>
          <p:cNvPr id="21" name="TextBox 20"/>
          <p:cNvSpPr txBox="1"/>
          <p:nvPr/>
        </p:nvSpPr>
        <p:spPr>
          <a:xfrm>
            <a:off x="8778240" y="2359152"/>
            <a:ext cx="777240" cy="393192"/>
          </a:xfrm>
          <a:prstGeom prst="rect">
            <a:avLst/>
          </a:prstGeom>
          <a:noFill/>
        </p:spPr>
        <p:txBody>
          <a:bodyPr wrap="square">
            <a:spAutoFit/>
          </a:bodyPr>
          <a:lstStyle/>
          <a:p>
            <a:pPr algn="l"/>
            <a:r>
              <a:rPr sz="1200" b="1" i="0">
                <a:solidFill>
                  <a:srgbClr val="FF4444"/>
                </a:solidFill>
              </a:rPr>
              <a:t>+2.7–+3.4</a:t>
            </a:r>
          </a:p>
        </p:txBody>
      </p:sp>
      <p:sp>
        <p:nvSpPr>
          <p:cNvPr id="22" name="Rectangle 21"/>
          <p:cNvSpPr/>
          <p:nvPr/>
        </p:nvSpPr>
        <p:spPr>
          <a:xfrm>
            <a:off x="3566160" y="2807208"/>
            <a:ext cx="5989320" cy="47548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2862072"/>
            <a:ext cx="2715768" cy="393192"/>
          </a:xfrm>
          <a:prstGeom prst="rect">
            <a:avLst/>
          </a:prstGeom>
          <a:noFill/>
        </p:spPr>
        <p:txBody>
          <a:bodyPr wrap="square">
            <a:spAutoFit/>
          </a:bodyPr>
          <a:lstStyle/>
          <a:p>
            <a:pPr algn="l"/>
            <a:r>
              <a:rPr sz="1200" b="0" i="0">
                <a:solidFill>
                  <a:srgbClr val="FFFFFF"/>
                </a:solidFill>
              </a:rPr>
              <a:t>ExtraTreesRegressor</a:t>
            </a:r>
          </a:p>
        </p:txBody>
      </p:sp>
      <p:sp>
        <p:nvSpPr>
          <p:cNvPr id="24" name="TextBox 23"/>
          <p:cNvSpPr txBox="1"/>
          <p:nvPr/>
        </p:nvSpPr>
        <p:spPr>
          <a:xfrm>
            <a:off x="6519672" y="2862072"/>
            <a:ext cx="2121408" cy="393192"/>
          </a:xfrm>
          <a:prstGeom prst="rect">
            <a:avLst/>
          </a:prstGeom>
          <a:noFill/>
        </p:spPr>
        <p:txBody>
          <a:bodyPr wrap="square">
            <a:spAutoFit/>
          </a:bodyPr>
          <a:lstStyle/>
          <a:p>
            <a:pPr algn="l"/>
            <a:r>
              <a:rPr sz="1200" b="0" i="0">
                <a:solidFill>
                  <a:srgbClr val="BBBBBB"/>
                </a:solidFill>
              </a:rPr>
              <a:t>Random splits &lt; RF best-split</a:t>
            </a:r>
          </a:p>
        </p:txBody>
      </p:sp>
      <p:sp>
        <p:nvSpPr>
          <p:cNvPr id="25" name="TextBox 24"/>
          <p:cNvSpPr txBox="1"/>
          <p:nvPr/>
        </p:nvSpPr>
        <p:spPr>
          <a:xfrm>
            <a:off x="8778240" y="2862072"/>
            <a:ext cx="777240" cy="393192"/>
          </a:xfrm>
          <a:prstGeom prst="rect">
            <a:avLst/>
          </a:prstGeom>
          <a:noFill/>
        </p:spPr>
        <p:txBody>
          <a:bodyPr wrap="square">
            <a:spAutoFit/>
          </a:bodyPr>
          <a:lstStyle/>
          <a:p>
            <a:pPr algn="l"/>
            <a:r>
              <a:rPr sz="1200" b="1" i="0">
                <a:solidFill>
                  <a:srgbClr val="FF4444"/>
                </a:solidFill>
              </a:rPr>
              <a:t>+0.43</a:t>
            </a:r>
          </a:p>
        </p:txBody>
      </p:sp>
      <p:sp>
        <p:nvSpPr>
          <p:cNvPr id="26" name="Rectangle 25"/>
          <p:cNvSpPr/>
          <p:nvPr/>
        </p:nvSpPr>
        <p:spPr>
          <a:xfrm>
            <a:off x="3566160" y="3310128"/>
            <a:ext cx="5989320" cy="4754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9312" y="3364992"/>
            <a:ext cx="2715768" cy="393192"/>
          </a:xfrm>
          <a:prstGeom prst="rect">
            <a:avLst/>
          </a:prstGeom>
          <a:noFill/>
        </p:spPr>
        <p:txBody>
          <a:bodyPr wrap="square">
            <a:spAutoFit/>
          </a:bodyPr>
          <a:lstStyle/>
          <a:p>
            <a:pPr algn="l"/>
            <a:r>
              <a:rPr sz="1200" b="0" i="0">
                <a:solidFill>
                  <a:srgbClr val="FFFFFF"/>
                </a:solidFill>
              </a:rPr>
              <a:t>RF max_features / min_samp</a:t>
            </a:r>
          </a:p>
        </p:txBody>
      </p:sp>
      <p:sp>
        <p:nvSpPr>
          <p:cNvPr id="28" name="TextBox 27"/>
          <p:cNvSpPr txBox="1"/>
          <p:nvPr/>
        </p:nvSpPr>
        <p:spPr>
          <a:xfrm>
            <a:off x="6519672" y="3364992"/>
            <a:ext cx="2121408" cy="393192"/>
          </a:xfrm>
          <a:prstGeom prst="rect">
            <a:avLst/>
          </a:prstGeom>
          <a:noFill/>
        </p:spPr>
        <p:txBody>
          <a:bodyPr wrap="square">
            <a:spAutoFit/>
          </a:bodyPr>
          <a:lstStyle/>
          <a:p>
            <a:pPr algn="l"/>
            <a:r>
              <a:rPr sz="1200" b="0" i="0">
                <a:solidFill>
                  <a:srgbClr val="BBBBBB"/>
                </a:solidFill>
              </a:rPr>
              <a:t>Regularization not the bottleneck</a:t>
            </a:r>
          </a:p>
        </p:txBody>
      </p:sp>
      <p:sp>
        <p:nvSpPr>
          <p:cNvPr id="29" name="TextBox 28"/>
          <p:cNvSpPr txBox="1"/>
          <p:nvPr/>
        </p:nvSpPr>
        <p:spPr>
          <a:xfrm>
            <a:off x="8778240" y="3364992"/>
            <a:ext cx="777240" cy="393192"/>
          </a:xfrm>
          <a:prstGeom prst="rect">
            <a:avLst/>
          </a:prstGeom>
          <a:noFill/>
        </p:spPr>
        <p:txBody>
          <a:bodyPr wrap="square">
            <a:spAutoFit/>
          </a:bodyPr>
          <a:lstStyle/>
          <a:p>
            <a:pPr algn="l"/>
            <a:r>
              <a:rPr sz="1200" b="1" i="0">
                <a:solidFill>
                  <a:srgbClr val="FF4444"/>
                </a:solidFill>
              </a:rPr>
              <a:t>+0.26–+0.36</a:t>
            </a:r>
          </a:p>
        </p:txBody>
      </p:sp>
      <p:sp>
        <p:nvSpPr>
          <p:cNvPr id="30" name="Rectangle 29"/>
          <p:cNvSpPr/>
          <p:nvPr/>
        </p:nvSpPr>
        <p:spPr>
          <a:xfrm>
            <a:off x="3566160" y="3813048"/>
            <a:ext cx="5989320" cy="475488"/>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39312" y="3867911"/>
            <a:ext cx="2715768" cy="393192"/>
          </a:xfrm>
          <a:prstGeom prst="rect">
            <a:avLst/>
          </a:prstGeom>
          <a:noFill/>
        </p:spPr>
        <p:txBody>
          <a:bodyPr wrap="square">
            <a:spAutoFit/>
          </a:bodyPr>
          <a:lstStyle/>
          <a:p>
            <a:pPr algn="l"/>
            <a:r>
              <a:rPr sz="1200" b="0" i="0">
                <a:solidFill>
                  <a:srgbClr val="FFFFFF"/>
                </a:solidFill>
              </a:rPr>
              <a:t>Log transforms (bounded)</a:t>
            </a:r>
          </a:p>
        </p:txBody>
      </p:sp>
      <p:sp>
        <p:nvSpPr>
          <p:cNvPr id="32" name="TextBox 31"/>
          <p:cNvSpPr txBox="1"/>
          <p:nvPr/>
        </p:nvSpPr>
        <p:spPr>
          <a:xfrm>
            <a:off x="6519672" y="3867911"/>
            <a:ext cx="2121408" cy="393192"/>
          </a:xfrm>
          <a:prstGeom prst="rect">
            <a:avLst/>
          </a:prstGeom>
          <a:noFill/>
        </p:spPr>
        <p:txBody>
          <a:bodyPr wrap="square">
            <a:spAutoFit/>
          </a:bodyPr>
          <a:lstStyle/>
          <a:p>
            <a:pPr algn="l"/>
            <a:r>
              <a:rPr sz="1200" b="0" i="0">
                <a:solidFill>
                  <a:srgbClr val="BBBBBB"/>
                </a:solidFill>
              </a:rPr>
              <a:t>Bounded features — log adds noise</a:t>
            </a:r>
          </a:p>
        </p:txBody>
      </p:sp>
      <p:sp>
        <p:nvSpPr>
          <p:cNvPr id="33" name="TextBox 32"/>
          <p:cNvSpPr txBox="1"/>
          <p:nvPr/>
        </p:nvSpPr>
        <p:spPr>
          <a:xfrm>
            <a:off x="8778240" y="3867911"/>
            <a:ext cx="777240" cy="393192"/>
          </a:xfrm>
          <a:prstGeom prst="rect">
            <a:avLst/>
          </a:prstGeom>
          <a:noFill/>
        </p:spPr>
        <p:txBody>
          <a:bodyPr wrap="square">
            <a:spAutoFit/>
          </a:bodyPr>
          <a:lstStyle/>
          <a:p>
            <a:pPr algn="l"/>
            <a:r>
              <a:rPr sz="1200" b="1" i="0">
                <a:solidFill>
                  <a:srgbClr val="FF4444"/>
                </a:solidFill>
              </a:rPr>
              <a:t>+0.003–+0.007</a:t>
            </a:r>
          </a:p>
        </p:txBody>
      </p:sp>
      <p:sp>
        <p:nvSpPr>
          <p:cNvPr id="34" name="Rectangle 33"/>
          <p:cNvSpPr/>
          <p:nvPr/>
        </p:nvSpPr>
        <p:spPr>
          <a:xfrm>
            <a:off x="3566160" y="4315968"/>
            <a:ext cx="5989320" cy="47548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9312" y="4370831"/>
            <a:ext cx="2715768" cy="393192"/>
          </a:xfrm>
          <a:prstGeom prst="rect">
            <a:avLst/>
          </a:prstGeom>
          <a:noFill/>
        </p:spPr>
        <p:txBody>
          <a:bodyPr wrap="square">
            <a:spAutoFit/>
          </a:bodyPr>
          <a:lstStyle/>
          <a:p>
            <a:pPr algn="l"/>
            <a:r>
              <a:rPr sz="1200" b="0" i="0">
                <a:solidFill>
                  <a:srgbClr val="FFFFFF"/>
                </a:solidFill>
              </a:rPr>
              <a:t>Feature dropping</a:t>
            </a:r>
          </a:p>
        </p:txBody>
      </p:sp>
      <p:sp>
        <p:nvSpPr>
          <p:cNvPr id="36" name="TextBox 35"/>
          <p:cNvSpPr txBox="1"/>
          <p:nvPr/>
        </p:nvSpPr>
        <p:spPr>
          <a:xfrm>
            <a:off x="6519672" y="4370831"/>
            <a:ext cx="2121408" cy="393192"/>
          </a:xfrm>
          <a:prstGeom prst="rect">
            <a:avLst/>
          </a:prstGeom>
          <a:noFill/>
        </p:spPr>
        <p:txBody>
          <a:bodyPr wrap="square">
            <a:spAutoFit/>
          </a:bodyPr>
          <a:lstStyle/>
          <a:p>
            <a:pPr algn="l"/>
            <a:r>
              <a:rPr sz="1200" b="0" i="0">
                <a:solidFill>
                  <a:srgbClr val="BBBBBB"/>
                </a:solidFill>
              </a:rPr>
              <a:t>key, mode, time_sig still contribute</a:t>
            </a:r>
          </a:p>
        </p:txBody>
      </p:sp>
      <p:sp>
        <p:nvSpPr>
          <p:cNvPr id="37" name="TextBox 36"/>
          <p:cNvSpPr txBox="1"/>
          <p:nvPr/>
        </p:nvSpPr>
        <p:spPr>
          <a:xfrm>
            <a:off x="8778240" y="4370831"/>
            <a:ext cx="777240" cy="393192"/>
          </a:xfrm>
          <a:prstGeom prst="rect">
            <a:avLst/>
          </a:prstGeom>
          <a:noFill/>
        </p:spPr>
        <p:txBody>
          <a:bodyPr wrap="square">
            <a:spAutoFit/>
          </a:bodyPr>
          <a:lstStyle/>
          <a:p>
            <a:pPr algn="l"/>
            <a:r>
              <a:rPr sz="1200" b="1" i="0">
                <a:solidFill>
                  <a:srgbClr val="FF4444"/>
                </a:solidFill>
              </a:rPr>
              <a:t>+0.71</a:t>
            </a:r>
          </a:p>
        </p:txBody>
      </p:sp>
      <p:sp>
        <p:nvSpPr>
          <p:cNvPr id="38" name="Rectangle 37"/>
          <p:cNvSpPr/>
          <p:nvPr/>
        </p:nvSpPr>
        <p:spPr>
          <a:xfrm>
            <a:off x="320040" y="4892040"/>
            <a:ext cx="11548872" cy="160020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0040" y="4892040"/>
            <a:ext cx="11548872" cy="36576"/>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5029200"/>
            <a:ext cx="11183112" cy="347472"/>
          </a:xfrm>
          <a:prstGeom prst="rect">
            <a:avLst/>
          </a:prstGeom>
          <a:noFill/>
        </p:spPr>
        <p:txBody>
          <a:bodyPr wrap="square">
            <a:spAutoFit/>
          </a:bodyPr>
          <a:lstStyle/>
          <a:p>
            <a:pPr algn="l"/>
            <a:r>
              <a:rPr sz="1400" b="1" i="0">
                <a:solidFill>
                  <a:srgbClr val="FF4444"/>
                </a:solidFill>
              </a:rPr>
              <a:t>What this reveals about the loop:</a:t>
            </a:r>
          </a:p>
        </p:txBody>
      </p:sp>
      <p:sp>
        <p:nvSpPr>
          <p:cNvPr id="41" name="TextBox 40"/>
          <p:cNvSpPr txBox="1"/>
          <p:nvPr/>
        </p:nvSpPr>
        <p:spPr>
          <a:xfrm>
            <a:off x="502920" y="5413248"/>
            <a:ext cx="11183112" cy="914400"/>
          </a:xfrm>
          <a:prstGeom prst="rect">
            <a:avLst/>
          </a:prstGeom>
          <a:noFill/>
        </p:spPr>
        <p:txBody>
          <a:bodyPr wrap="square">
            <a:spAutoFit/>
          </a:bodyPr>
          <a:lstStyle/>
          <a:p>
            <a:pPr algn="l"/>
            <a:r>
              <a:rPr sz="1300" b="0" i="0">
                <a:solidFill>
                  <a:srgbClr val="BBBBBB"/>
                </a:solidFill>
              </a:rPr>
              <a:t>Loop executes its checklist rather than updating beliefs after the first failure. Three consecutive interaction experiments all ran for the same reason: no self-auditing, no diminishing-returns checkpoint.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The Model Fails Where It Matters Most</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Popularity bucket analysis — the central result</a:t>
            </a:r>
          </a:p>
        </p:txBody>
      </p:sp>
      <p:pic>
        <p:nvPicPr>
          <p:cNvPr id="7" name="Picture 6" descr="error_by_bucket_plot.png"/>
          <p:cNvPicPr>
            <a:picLocks noChangeAspect="1"/>
          </p:cNvPicPr>
          <p:nvPr/>
        </p:nvPicPr>
        <p:blipFill>
          <a:blip r:embed="rId2"/>
          <a:stretch>
            <a:fillRect/>
          </a:stretch>
        </p:blipFill>
        <p:spPr>
          <a:xfrm>
            <a:off x="274320" y="1389888"/>
            <a:ext cx="6949440" cy="5166360"/>
          </a:xfrm>
          <a:prstGeom prst="rect">
            <a:avLst/>
          </a:prstGeom>
        </p:spPr>
      </p:pic>
      <p:sp>
        <p:nvSpPr>
          <p:cNvPr id="8" name="Rectangle 7"/>
          <p:cNvSpPr/>
          <p:nvPr/>
        </p:nvSpPr>
        <p:spPr>
          <a:xfrm>
            <a:off x="7452360" y="1417320"/>
            <a:ext cx="443484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43800" y="1453896"/>
            <a:ext cx="2103120" cy="347472"/>
          </a:xfrm>
          <a:prstGeom prst="rect">
            <a:avLst/>
          </a:prstGeom>
          <a:noFill/>
        </p:spPr>
        <p:txBody>
          <a:bodyPr wrap="square">
            <a:spAutoFit/>
          </a:bodyPr>
          <a:lstStyle/>
          <a:p>
            <a:pPr algn="l"/>
            <a:r>
              <a:rPr sz="1300" b="1" i="0">
                <a:solidFill>
                  <a:srgbClr val="FFFFFF"/>
                </a:solidFill>
              </a:rPr>
              <a:t>Bucket</a:t>
            </a:r>
          </a:p>
        </p:txBody>
      </p:sp>
      <p:sp>
        <p:nvSpPr>
          <p:cNvPr id="10" name="TextBox 9"/>
          <p:cNvSpPr txBox="1"/>
          <p:nvPr/>
        </p:nvSpPr>
        <p:spPr>
          <a:xfrm>
            <a:off x="9646920" y="1453896"/>
            <a:ext cx="1005840" cy="347472"/>
          </a:xfrm>
          <a:prstGeom prst="rect">
            <a:avLst/>
          </a:prstGeom>
          <a:noFill/>
        </p:spPr>
        <p:txBody>
          <a:bodyPr wrap="square">
            <a:spAutoFit/>
          </a:bodyPr>
          <a:lstStyle/>
          <a:p>
            <a:pPr algn="l"/>
            <a:r>
              <a:rPr sz="1300" b="1" i="0">
                <a:solidFill>
                  <a:srgbClr val="FFFFFF"/>
                </a:solidFill>
              </a:rPr>
              <a:t>RMSE</a:t>
            </a:r>
          </a:p>
        </p:txBody>
      </p:sp>
      <p:sp>
        <p:nvSpPr>
          <p:cNvPr id="11" name="TextBox 10"/>
          <p:cNvSpPr txBox="1"/>
          <p:nvPr/>
        </p:nvSpPr>
        <p:spPr>
          <a:xfrm>
            <a:off x="10698480" y="1453896"/>
            <a:ext cx="1097280" cy="347472"/>
          </a:xfrm>
          <a:prstGeom prst="rect">
            <a:avLst/>
          </a:prstGeom>
          <a:noFill/>
        </p:spPr>
        <p:txBody>
          <a:bodyPr wrap="square">
            <a:spAutoFit/>
          </a:bodyPr>
          <a:lstStyle/>
          <a:p>
            <a:pPr algn="l"/>
            <a:r>
              <a:rPr sz="1300" b="1" i="0">
                <a:solidFill>
                  <a:srgbClr val="FFFFFF"/>
                </a:solidFill>
              </a:rPr>
              <a:t>Bias</a:t>
            </a:r>
          </a:p>
        </p:txBody>
      </p:sp>
      <p:sp>
        <p:nvSpPr>
          <p:cNvPr id="12" name="Rectangle 11"/>
          <p:cNvSpPr/>
          <p:nvPr/>
        </p:nvSpPr>
        <p:spPr>
          <a:xfrm>
            <a:off x="7452360" y="1801368"/>
            <a:ext cx="4434840" cy="60350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43800" y="1892807"/>
            <a:ext cx="2103120" cy="438912"/>
          </a:xfrm>
          <a:prstGeom prst="rect">
            <a:avLst/>
          </a:prstGeom>
          <a:noFill/>
        </p:spPr>
        <p:txBody>
          <a:bodyPr wrap="square">
            <a:spAutoFit/>
          </a:bodyPr>
          <a:lstStyle/>
          <a:p>
            <a:pPr algn="l"/>
            <a:r>
              <a:rPr sz="1300" b="0" i="0">
                <a:solidFill>
                  <a:srgbClr val="FFFFFF"/>
                </a:solidFill>
              </a:rPr>
              <a:t>Low  (0–33)</a:t>
            </a:r>
          </a:p>
        </p:txBody>
      </p:sp>
      <p:sp>
        <p:nvSpPr>
          <p:cNvPr id="14" name="TextBox 13"/>
          <p:cNvSpPr txBox="1"/>
          <p:nvPr/>
        </p:nvSpPr>
        <p:spPr>
          <a:xfrm>
            <a:off x="9646920" y="1892807"/>
            <a:ext cx="1005840" cy="438912"/>
          </a:xfrm>
          <a:prstGeom prst="rect">
            <a:avLst/>
          </a:prstGeom>
          <a:noFill/>
        </p:spPr>
        <p:txBody>
          <a:bodyPr wrap="square">
            <a:spAutoFit/>
          </a:bodyPr>
          <a:lstStyle/>
          <a:p>
            <a:pPr algn="l"/>
            <a:r>
              <a:rPr sz="1400" b="1" i="0">
                <a:solidFill>
                  <a:srgbClr val="BBBBBB"/>
                </a:solidFill>
              </a:rPr>
              <a:t>15.22</a:t>
            </a:r>
          </a:p>
        </p:txBody>
      </p:sp>
      <p:sp>
        <p:nvSpPr>
          <p:cNvPr id="15" name="TextBox 14"/>
          <p:cNvSpPr txBox="1"/>
          <p:nvPr/>
        </p:nvSpPr>
        <p:spPr>
          <a:xfrm>
            <a:off x="10698480" y="1892807"/>
            <a:ext cx="1097280" cy="438912"/>
          </a:xfrm>
          <a:prstGeom prst="rect">
            <a:avLst/>
          </a:prstGeom>
          <a:noFill/>
        </p:spPr>
        <p:txBody>
          <a:bodyPr wrap="square">
            <a:spAutoFit/>
          </a:bodyPr>
          <a:lstStyle/>
          <a:p>
            <a:pPr algn="l"/>
            <a:r>
              <a:rPr sz="1300" b="1" i="0">
                <a:solidFill>
                  <a:srgbClr val="FFBB00"/>
                </a:solidFill>
              </a:rPr>
              <a:t>+10.67</a:t>
            </a:r>
          </a:p>
        </p:txBody>
      </p:sp>
      <p:sp>
        <p:nvSpPr>
          <p:cNvPr id="16" name="Rectangle 15"/>
          <p:cNvSpPr/>
          <p:nvPr/>
        </p:nvSpPr>
        <p:spPr>
          <a:xfrm>
            <a:off x="7452360" y="2441448"/>
            <a:ext cx="4434840" cy="60350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2532888"/>
            <a:ext cx="2103120" cy="438912"/>
          </a:xfrm>
          <a:prstGeom prst="rect">
            <a:avLst/>
          </a:prstGeom>
          <a:noFill/>
        </p:spPr>
        <p:txBody>
          <a:bodyPr wrap="square">
            <a:spAutoFit/>
          </a:bodyPr>
          <a:lstStyle/>
          <a:p>
            <a:pPr algn="l"/>
            <a:r>
              <a:rPr sz="1300" b="0" i="0">
                <a:solidFill>
                  <a:srgbClr val="FFFFFF"/>
                </a:solidFill>
              </a:rPr>
              <a:t>Medium  (34–66)</a:t>
            </a:r>
          </a:p>
        </p:txBody>
      </p:sp>
      <p:sp>
        <p:nvSpPr>
          <p:cNvPr id="18" name="TextBox 17"/>
          <p:cNvSpPr txBox="1"/>
          <p:nvPr/>
        </p:nvSpPr>
        <p:spPr>
          <a:xfrm>
            <a:off x="9646920" y="2532888"/>
            <a:ext cx="1005840" cy="438912"/>
          </a:xfrm>
          <a:prstGeom prst="rect">
            <a:avLst/>
          </a:prstGeom>
          <a:noFill/>
        </p:spPr>
        <p:txBody>
          <a:bodyPr wrap="square">
            <a:spAutoFit/>
          </a:bodyPr>
          <a:lstStyle/>
          <a:p>
            <a:pPr algn="l"/>
            <a:r>
              <a:rPr sz="1400" b="1" i="0">
                <a:solidFill>
                  <a:srgbClr val="1DB954"/>
                </a:solidFill>
              </a:rPr>
              <a:t>13.31</a:t>
            </a:r>
          </a:p>
        </p:txBody>
      </p:sp>
      <p:sp>
        <p:nvSpPr>
          <p:cNvPr id="19" name="TextBox 18"/>
          <p:cNvSpPr txBox="1"/>
          <p:nvPr/>
        </p:nvSpPr>
        <p:spPr>
          <a:xfrm>
            <a:off x="10698480" y="2532888"/>
            <a:ext cx="1097280" cy="438912"/>
          </a:xfrm>
          <a:prstGeom prst="rect">
            <a:avLst/>
          </a:prstGeom>
          <a:noFill/>
        </p:spPr>
        <p:txBody>
          <a:bodyPr wrap="square">
            <a:spAutoFit/>
          </a:bodyPr>
          <a:lstStyle/>
          <a:p>
            <a:pPr algn="l"/>
            <a:r>
              <a:rPr sz="1300" b="1" i="0">
                <a:solidFill>
                  <a:srgbClr val="BBBBBB"/>
                </a:solidFill>
              </a:rPr>
              <a:t>−8.79</a:t>
            </a:r>
          </a:p>
        </p:txBody>
      </p:sp>
      <p:sp>
        <p:nvSpPr>
          <p:cNvPr id="20" name="Rectangle 19"/>
          <p:cNvSpPr/>
          <p:nvPr/>
        </p:nvSpPr>
        <p:spPr>
          <a:xfrm>
            <a:off x="7452360" y="3081528"/>
            <a:ext cx="4434840" cy="60350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3172968"/>
            <a:ext cx="2103120" cy="438912"/>
          </a:xfrm>
          <a:prstGeom prst="rect">
            <a:avLst/>
          </a:prstGeom>
          <a:noFill/>
        </p:spPr>
        <p:txBody>
          <a:bodyPr wrap="square">
            <a:spAutoFit/>
          </a:bodyPr>
          <a:lstStyle/>
          <a:p>
            <a:pPr algn="l"/>
            <a:r>
              <a:rPr sz="1300" b="0" i="0">
                <a:solidFill>
                  <a:srgbClr val="FFFFFF"/>
                </a:solidFill>
              </a:rPr>
              <a:t>High  (67–100)</a:t>
            </a:r>
          </a:p>
        </p:txBody>
      </p:sp>
      <p:sp>
        <p:nvSpPr>
          <p:cNvPr id="22" name="TextBox 21"/>
          <p:cNvSpPr txBox="1"/>
          <p:nvPr/>
        </p:nvSpPr>
        <p:spPr>
          <a:xfrm>
            <a:off x="9646920" y="3172968"/>
            <a:ext cx="1005840" cy="438912"/>
          </a:xfrm>
          <a:prstGeom prst="rect">
            <a:avLst/>
          </a:prstGeom>
          <a:noFill/>
        </p:spPr>
        <p:txBody>
          <a:bodyPr wrap="square">
            <a:spAutoFit/>
          </a:bodyPr>
          <a:lstStyle/>
          <a:p>
            <a:pPr algn="l"/>
            <a:r>
              <a:rPr sz="1400" b="1" i="0">
                <a:solidFill>
                  <a:srgbClr val="FF4444"/>
                </a:solidFill>
              </a:rPr>
              <a:t>28.48</a:t>
            </a:r>
          </a:p>
        </p:txBody>
      </p:sp>
      <p:sp>
        <p:nvSpPr>
          <p:cNvPr id="23" name="TextBox 22"/>
          <p:cNvSpPr txBox="1"/>
          <p:nvPr/>
        </p:nvSpPr>
        <p:spPr>
          <a:xfrm>
            <a:off x="10698480" y="3172968"/>
            <a:ext cx="1097280" cy="438912"/>
          </a:xfrm>
          <a:prstGeom prst="rect">
            <a:avLst/>
          </a:prstGeom>
          <a:noFill/>
        </p:spPr>
        <p:txBody>
          <a:bodyPr wrap="square">
            <a:spAutoFit/>
          </a:bodyPr>
          <a:lstStyle/>
          <a:p>
            <a:pPr algn="l"/>
            <a:r>
              <a:rPr sz="1300" b="1" i="0">
                <a:solidFill>
                  <a:srgbClr val="FF4444"/>
                </a:solidFill>
              </a:rPr>
              <a:t>−23.26</a:t>
            </a:r>
          </a:p>
        </p:txBody>
      </p:sp>
      <p:sp>
        <p:nvSpPr>
          <p:cNvPr id="24" name="Rectangle 23"/>
          <p:cNvSpPr/>
          <p:nvPr/>
        </p:nvSpPr>
        <p:spPr>
          <a:xfrm>
            <a:off x="7452360" y="3794760"/>
            <a:ext cx="4434840" cy="960120"/>
          </a:xfrm>
          <a:prstGeom prst="rect">
            <a:avLst/>
          </a:prstGeom>
          <a:solidFill>
            <a:srgbClr val="88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62088" y="3867912"/>
            <a:ext cx="4215383" cy="528066"/>
          </a:xfrm>
          <a:prstGeom prst="rect">
            <a:avLst/>
          </a:prstGeom>
          <a:noFill/>
        </p:spPr>
        <p:txBody>
          <a:bodyPr wrap="square">
            <a:spAutoFit/>
          </a:bodyPr>
          <a:lstStyle/>
          <a:p>
            <a:pPr algn="ctr"/>
            <a:r>
              <a:rPr sz="3600" b="1" i="0">
                <a:solidFill>
                  <a:srgbClr val="FFFFFF"/>
                </a:solidFill>
              </a:rPr>
              <a:t>2.1×</a:t>
            </a:r>
          </a:p>
        </p:txBody>
      </p:sp>
      <p:sp>
        <p:nvSpPr>
          <p:cNvPr id="26" name="TextBox 25"/>
          <p:cNvSpPr txBox="1"/>
          <p:nvPr/>
        </p:nvSpPr>
        <p:spPr>
          <a:xfrm>
            <a:off x="7562088" y="4322826"/>
            <a:ext cx="4215383" cy="384048"/>
          </a:xfrm>
          <a:prstGeom prst="rect">
            <a:avLst/>
          </a:prstGeom>
          <a:noFill/>
        </p:spPr>
        <p:txBody>
          <a:bodyPr wrap="square">
            <a:spAutoFit/>
          </a:bodyPr>
          <a:lstStyle/>
          <a:p>
            <a:pPr algn="ctr"/>
            <a:r>
              <a:rPr sz="1300" b="0" i="0">
                <a:solidFill>
                  <a:srgbClr val="FFFFFF"/>
                </a:solidFill>
              </a:rPr>
              <a:t>higher RMSE on high-popularity tracks</a:t>
            </a:r>
          </a:p>
        </p:txBody>
      </p:sp>
      <p:sp>
        <p:nvSpPr>
          <p:cNvPr id="27" name="Rectangle 26"/>
          <p:cNvSpPr/>
          <p:nvPr/>
        </p:nvSpPr>
        <p:spPr>
          <a:xfrm>
            <a:off x="7452360" y="4919472"/>
            <a:ext cx="4434840" cy="16459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5029200"/>
            <a:ext cx="4160520" cy="384048"/>
          </a:xfrm>
          <a:prstGeom prst="rect">
            <a:avLst/>
          </a:prstGeom>
          <a:noFill/>
        </p:spPr>
        <p:txBody>
          <a:bodyPr wrap="square">
            <a:spAutoFit/>
          </a:bodyPr>
          <a:lstStyle/>
          <a:p>
            <a:pPr algn="l"/>
            <a:r>
              <a:rPr sz="1300" b="1" i="0">
                <a:solidFill>
                  <a:srgbClr val="FFFFFF"/>
                </a:solidFill>
              </a:rPr>
              <a:t>Audio features identify what a song sounds like.</a:t>
            </a:r>
          </a:p>
        </p:txBody>
      </p:sp>
      <p:sp>
        <p:nvSpPr>
          <p:cNvPr id="29" name="TextBox 28"/>
          <p:cNvSpPr txBox="1"/>
          <p:nvPr/>
        </p:nvSpPr>
        <p:spPr>
          <a:xfrm>
            <a:off x="7589520" y="5431536"/>
            <a:ext cx="4160520" cy="1005840"/>
          </a:xfrm>
          <a:prstGeom prst="rect">
            <a:avLst/>
          </a:prstGeom>
          <a:noFill/>
        </p:spPr>
        <p:txBody>
          <a:bodyPr wrap="square">
            <a:spAutoFit/>
          </a:bodyPr>
          <a:lstStyle/>
          <a:p>
            <a:pPr algn="l"/>
            <a:r>
              <a:rPr sz="1200" b="0" i="0">
                <a:solidFill>
                  <a:srgbClr val="BBBBBB"/>
                </a:solidFill>
              </a:rPr>
              <a:t>They cannot identify which good-sounding songs become hits. Missing signal: artist reputation, playlist placement, release timing.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The Failure Is Not in Audio Space</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Feature-bucket analysis confirms an information ceiling, not a modeling ceiling</a:t>
            </a:r>
          </a:p>
        </p:txBody>
      </p:sp>
      <p:pic>
        <p:nvPicPr>
          <p:cNvPr id="7" name="Picture 6" descr="feature_bucket_error_plot.png"/>
          <p:cNvPicPr>
            <a:picLocks noChangeAspect="1"/>
          </p:cNvPicPr>
          <p:nvPr/>
        </p:nvPicPr>
        <p:blipFill>
          <a:blip r:embed="rId2"/>
          <a:stretch>
            <a:fillRect/>
          </a:stretch>
        </p:blipFill>
        <p:spPr>
          <a:xfrm>
            <a:off x="5029200" y="1389888"/>
            <a:ext cx="6885432" cy="5285232"/>
          </a:xfrm>
          <a:prstGeom prst="rect">
            <a:avLst/>
          </a:prstGeom>
        </p:spPr>
      </p:pic>
      <p:sp>
        <p:nvSpPr>
          <p:cNvPr id="8" name="Rectangle 7"/>
          <p:cNvSpPr/>
          <p:nvPr/>
        </p:nvSpPr>
        <p:spPr>
          <a:xfrm>
            <a:off x="320040" y="1417320"/>
            <a:ext cx="443484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453896"/>
            <a:ext cx="2331720" cy="347472"/>
          </a:xfrm>
          <a:prstGeom prst="rect">
            <a:avLst/>
          </a:prstGeom>
          <a:noFill/>
        </p:spPr>
        <p:txBody>
          <a:bodyPr wrap="square">
            <a:spAutoFit/>
          </a:bodyPr>
          <a:lstStyle/>
          <a:p>
            <a:pPr algn="l"/>
            <a:r>
              <a:rPr sz="1300" b="1" i="0">
                <a:solidFill>
                  <a:srgbClr val="FFFFFF"/>
                </a:solidFill>
              </a:rPr>
              <a:t>Sliced by</a:t>
            </a:r>
          </a:p>
        </p:txBody>
      </p:sp>
      <p:sp>
        <p:nvSpPr>
          <p:cNvPr id="10" name="TextBox 9"/>
          <p:cNvSpPr txBox="1"/>
          <p:nvPr/>
        </p:nvSpPr>
        <p:spPr>
          <a:xfrm>
            <a:off x="2743200" y="1453896"/>
            <a:ext cx="1005840" cy="347472"/>
          </a:xfrm>
          <a:prstGeom prst="rect">
            <a:avLst/>
          </a:prstGeom>
          <a:noFill/>
        </p:spPr>
        <p:txBody>
          <a:bodyPr wrap="square">
            <a:spAutoFit/>
          </a:bodyPr>
          <a:lstStyle/>
          <a:p>
            <a:pPr algn="l"/>
            <a:r>
              <a:rPr sz="1300" b="1" i="0">
                <a:solidFill>
                  <a:srgbClr val="FFFFFF"/>
                </a:solidFill>
              </a:rPr>
              <a:t>RMSE span</a:t>
            </a:r>
          </a:p>
        </p:txBody>
      </p:sp>
      <p:sp>
        <p:nvSpPr>
          <p:cNvPr id="11" name="TextBox 10"/>
          <p:cNvSpPr txBox="1"/>
          <p:nvPr/>
        </p:nvSpPr>
        <p:spPr>
          <a:xfrm>
            <a:off x="3776472" y="1453896"/>
            <a:ext cx="914400" cy="347472"/>
          </a:xfrm>
          <a:prstGeom prst="rect">
            <a:avLst/>
          </a:prstGeom>
          <a:noFill/>
        </p:spPr>
        <p:txBody>
          <a:bodyPr wrap="square">
            <a:spAutoFit/>
          </a:bodyPr>
          <a:lstStyle/>
          <a:p>
            <a:pPr algn="l"/>
            <a:r>
              <a:rPr sz="1300" b="1" i="0">
                <a:solidFill>
                  <a:srgbClr val="FFFFFF"/>
                </a:solidFill>
              </a:rPr>
              <a:t>Bias span</a:t>
            </a:r>
          </a:p>
        </p:txBody>
      </p:sp>
      <p:sp>
        <p:nvSpPr>
          <p:cNvPr id="12" name="Rectangle 11"/>
          <p:cNvSpPr/>
          <p:nvPr/>
        </p:nvSpPr>
        <p:spPr>
          <a:xfrm>
            <a:off x="320040" y="1801368"/>
            <a:ext cx="4434840" cy="55778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1874519"/>
            <a:ext cx="2331720" cy="438912"/>
          </a:xfrm>
          <a:prstGeom prst="rect">
            <a:avLst/>
          </a:prstGeom>
          <a:noFill/>
        </p:spPr>
        <p:txBody>
          <a:bodyPr wrap="square">
            <a:spAutoFit/>
          </a:bodyPr>
          <a:lstStyle/>
          <a:p>
            <a:pPr algn="l"/>
            <a:r>
              <a:rPr sz="1300" b="1" i="0">
                <a:solidFill>
                  <a:srgbClr val="FFFFFF"/>
                </a:solidFill>
              </a:rPr>
              <a:t>Popularity buckets</a:t>
            </a:r>
          </a:p>
        </p:txBody>
      </p:sp>
      <p:sp>
        <p:nvSpPr>
          <p:cNvPr id="14" name="TextBox 13"/>
          <p:cNvSpPr txBox="1"/>
          <p:nvPr/>
        </p:nvSpPr>
        <p:spPr>
          <a:xfrm>
            <a:off x="2743200" y="1874519"/>
            <a:ext cx="1005840" cy="438912"/>
          </a:xfrm>
          <a:prstGeom prst="rect">
            <a:avLst/>
          </a:prstGeom>
          <a:noFill/>
        </p:spPr>
        <p:txBody>
          <a:bodyPr wrap="square">
            <a:spAutoFit/>
          </a:bodyPr>
          <a:lstStyle/>
          <a:p>
            <a:pPr algn="l"/>
            <a:r>
              <a:rPr sz="1300" b="1" i="0">
                <a:solidFill>
                  <a:srgbClr val="FF4444"/>
                </a:solidFill>
              </a:rPr>
              <a:t>15.2 units</a:t>
            </a:r>
          </a:p>
        </p:txBody>
      </p:sp>
      <p:sp>
        <p:nvSpPr>
          <p:cNvPr id="15" name="TextBox 14"/>
          <p:cNvSpPr txBox="1"/>
          <p:nvPr/>
        </p:nvSpPr>
        <p:spPr>
          <a:xfrm>
            <a:off x="3776472" y="1874519"/>
            <a:ext cx="914400" cy="438912"/>
          </a:xfrm>
          <a:prstGeom prst="rect">
            <a:avLst/>
          </a:prstGeom>
          <a:noFill/>
        </p:spPr>
        <p:txBody>
          <a:bodyPr wrap="square">
            <a:spAutoFit/>
          </a:bodyPr>
          <a:lstStyle/>
          <a:p>
            <a:pPr algn="l"/>
            <a:r>
              <a:rPr sz="1300" b="1" i="0">
                <a:solidFill>
                  <a:srgbClr val="FF4444"/>
                </a:solidFill>
              </a:rPr>
              <a:t>33.9 units</a:t>
            </a:r>
          </a:p>
        </p:txBody>
      </p:sp>
      <p:sp>
        <p:nvSpPr>
          <p:cNvPr id="16" name="Rectangle 15"/>
          <p:cNvSpPr/>
          <p:nvPr/>
        </p:nvSpPr>
        <p:spPr>
          <a:xfrm>
            <a:off x="320040" y="2395728"/>
            <a:ext cx="4434840" cy="5577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2468880"/>
            <a:ext cx="2331720" cy="438912"/>
          </a:xfrm>
          <a:prstGeom prst="rect">
            <a:avLst/>
          </a:prstGeom>
          <a:noFill/>
        </p:spPr>
        <p:txBody>
          <a:bodyPr wrap="square">
            <a:spAutoFit/>
          </a:bodyPr>
          <a:lstStyle/>
          <a:p>
            <a:pPr algn="l"/>
            <a:r>
              <a:rPr sz="1300" b="0" i="0">
                <a:solidFill>
                  <a:srgbClr val="FFFFFF"/>
                </a:solidFill>
              </a:rPr>
              <a:t>Danceability</a:t>
            </a:r>
          </a:p>
        </p:txBody>
      </p:sp>
      <p:sp>
        <p:nvSpPr>
          <p:cNvPr id="18" name="TextBox 17"/>
          <p:cNvSpPr txBox="1"/>
          <p:nvPr/>
        </p:nvSpPr>
        <p:spPr>
          <a:xfrm>
            <a:off x="2743200" y="2468880"/>
            <a:ext cx="1005840" cy="438912"/>
          </a:xfrm>
          <a:prstGeom prst="rect">
            <a:avLst/>
          </a:prstGeom>
          <a:noFill/>
        </p:spPr>
        <p:txBody>
          <a:bodyPr wrap="square">
            <a:spAutoFit/>
          </a:bodyPr>
          <a:lstStyle/>
          <a:p>
            <a:pPr algn="l"/>
            <a:r>
              <a:rPr sz="1300" b="1" i="0">
                <a:solidFill>
                  <a:srgbClr val="1DB954"/>
                </a:solidFill>
              </a:rPr>
              <a:t>3.1 units</a:t>
            </a:r>
          </a:p>
        </p:txBody>
      </p:sp>
      <p:sp>
        <p:nvSpPr>
          <p:cNvPr id="19" name="TextBox 18"/>
          <p:cNvSpPr txBox="1"/>
          <p:nvPr/>
        </p:nvSpPr>
        <p:spPr>
          <a:xfrm>
            <a:off x="3776472" y="2468880"/>
            <a:ext cx="914400" cy="438912"/>
          </a:xfrm>
          <a:prstGeom prst="rect">
            <a:avLst/>
          </a:prstGeom>
          <a:noFill/>
        </p:spPr>
        <p:txBody>
          <a:bodyPr wrap="square">
            <a:spAutoFit/>
          </a:bodyPr>
          <a:lstStyle/>
          <a:p>
            <a:pPr algn="l"/>
            <a:r>
              <a:rPr sz="1300" b="1" i="0">
                <a:solidFill>
                  <a:srgbClr val="1DB954"/>
                </a:solidFill>
              </a:rPr>
              <a:t>1.1 units</a:t>
            </a:r>
          </a:p>
        </p:txBody>
      </p:sp>
      <p:sp>
        <p:nvSpPr>
          <p:cNvPr id="20" name="Rectangle 19"/>
          <p:cNvSpPr/>
          <p:nvPr/>
        </p:nvSpPr>
        <p:spPr>
          <a:xfrm>
            <a:off x="320040" y="2990088"/>
            <a:ext cx="4434840" cy="557784"/>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79" y="3063240"/>
            <a:ext cx="2331720" cy="438912"/>
          </a:xfrm>
          <a:prstGeom prst="rect">
            <a:avLst/>
          </a:prstGeom>
          <a:noFill/>
        </p:spPr>
        <p:txBody>
          <a:bodyPr wrap="square">
            <a:spAutoFit/>
          </a:bodyPr>
          <a:lstStyle/>
          <a:p>
            <a:pPr algn="l"/>
            <a:r>
              <a:rPr sz="1300" b="0" i="0">
                <a:solidFill>
                  <a:srgbClr val="FFFFFF"/>
                </a:solidFill>
              </a:rPr>
              <a:t>Energy</a:t>
            </a:r>
          </a:p>
        </p:txBody>
      </p:sp>
      <p:sp>
        <p:nvSpPr>
          <p:cNvPr id="22" name="TextBox 21"/>
          <p:cNvSpPr txBox="1"/>
          <p:nvPr/>
        </p:nvSpPr>
        <p:spPr>
          <a:xfrm>
            <a:off x="2743200" y="3063240"/>
            <a:ext cx="1005840" cy="438912"/>
          </a:xfrm>
          <a:prstGeom prst="rect">
            <a:avLst/>
          </a:prstGeom>
          <a:noFill/>
        </p:spPr>
        <p:txBody>
          <a:bodyPr wrap="square">
            <a:spAutoFit/>
          </a:bodyPr>
          <a:lstStyle/>
          <a:p>
            <a:pPr algn="l"/>
            <a:r>
              <a:rPr sz="1300" b="1" i="0">
                <a:solidFill>
                  <a:srgbClr val="1DB954"/>
                </a:solidFill>
              </a:rPr>
              <a:t>0.3 units</a:t>
            </a:r>
          </a:p>
        </p:txBody>
      </p:sp>
      <p:sp>
        <p:nvSpPr>
          <p:cNvPr id="23" name="TextBox 22"/>
          <p:cNvSpPr txBox="1"/>
          <p:nvPr/>
        </p:nvSpPr>
        <p:spPr>
          <a:xfrm>
            <a:off x="3776472" y="3063240"/>
            <a:ext cx="914400" cy="438912"/>
          </a:xfrm>
          <a:prstGeom prst="rect">
            <a:avLst/>
          </a:prstGeom>
          <a:noFill/>
        </p:spPr>
        <p:txBody>
          <a:bodyPr wrap="square">
            <a:spAutoFit/>
          </a:bodyPr>
          <a:lstStyle/>
          <a:p>
            <a:pPr algn="l"/>
            <a:r>
              <a:rPr sz="1300" b="1" i="0">
                <a:solidFill>
                  <a:srgbClr val="1DB954"/>
                </a:solidFill>
              </a:rPr>
              <a:t>0.4 units</a:t>
            </a:r>
          </a:p>
        </p:txBody>
      </p:sp>
      <p:sp>
        <p:nvSpPr>
          <p:cNvPr id="24" name="Rectangle 23"/>
          <p:cNvSpPr/>
          <p:nvPr/>
        </p:nvSpPr>
        <p:spPr>
          <a:xfrm>
            <a:off x="320040" y="3584448"/>
            <a:ext cx="4434840" cy="55778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3657600"/>
            <a:ext cx="2331720" cy="438912"/>
          </a:xfrm>
          <a:prstGeom prst="rect">
            <a:avLst/>
          </a:prstGeom>
          <a:noFill/>
        </p:spPr>
        <p:txBody>
          <a:bodyPr wrap="square">
            <a:spAutoFit/>
          </a:bodyPr>
          <a:lstStyle/>
          <a:p>
            <a:pPr algn="l"/>
            <a:r>
              <a:rPr sz="1300" b="0" i="0">
                <a:solidFill>
                  <a:srgbClr val="FFFFFF"/>
                </a:solidFill>
              </a:rPr>
              <a:t>Tempo</a:t>
            </a:r>
          </a:p>
        </p:txBody>
      </p:sp>
      <p:sp>
        <p:nvSpPr>
          <p:cNvPr id="26" name="TextBox 25"/>
          <p:cNvSpPr txBox="1"/>
          <p:nvPr/>
        </p:nvSpPr>
        <p:spPr>
          <a:xfrm>
            <a:off x="2743200" y="3657600"/>
            <a:ext cx="1005840" cy="438912"/>
          </a:xfrm>
          <a:prstGeom prst="rect">
            <a:avLst/>
          </a:prstGeom>
          <a:noFill/>
        </p:spPr>
        <p:txBody>
          <a:bodyPr wrap="square">
            <a:spAutoFit/>
          </a:bodyPr>
          <a:lstStyle/>
          <a:p>
            <a:pPr algn="l"/>
            <a:r>
              <a:rPr sz="1300" b="1" i="0">
                <a:solidFill>
                  <a:srgbClr val="1DB954"/>
                </a:solidFill>
              </a:rPr>
              <a:t>1.4 units</a:t>
            </a:r>
          </a:p>
        </p:txBody>
      </p:sp>
      <p:sp>
        <p:nvSpPr>
          <p:cNvPr id="27" name="TextBox 26"/>
          <p:cNvSpPr txBox="1"/>
          <p:nvPr/>
        </p:nvSpPr>
        <p:spPr>
          <a:xfrm>
            <a:off x="3776472" y="3657600"/>
            <a:ext cx="914400" cy="438912"/>
          </a:xfrm>
          <a:prstGeom prst="rect">
            <a:avLst/>
          </a:prstGeom>
          <a:noFill/>
        </p:spPr>
        <p:txBody>
          <a:bodyPr wrap="square">
            <a:spAutoFit/>
          </a:bodyPr>
          <a:lstStyle/>
          <a:p>
            <a:pPr algn="l"/>
            <a:r>
              <a:rPr sz="1300" b="1" i="0">
                <a:solidFill>
                  <a:srgbClr val="1DB954"/>
                </a:solidFill>
              </a:rPr>
              <a:t>0.4 units</a:t>
            </a:r>
          </a:p>
        </p:txBody>
      </p:sp>
      <p:sp>
        <p:nvSpPr>
          <p:cNvPr id="28" name="Rectangle 27"/>
          <p:cNvSpPr/>
          <p:nvPr/>
        </p:nvSpPr>
        <p:spPr>
          <a:xfrm>
            <a:off x="320040" y="4206240"/>
            <a:ext cx="4434840" cy="233172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4206240"/>
            <a:ext cx="4434840" cy="36576"/>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315968"/>
            <a:ext cx="4160520" cy="457200"/>
          </a:xfrm>
          <a:prstGeom prst="rect">
            <a:avLst/>
          </a:prstGeom>
          <a:noFill/>
        </p:spPr>
        <p:txBody>
          <a:bodyPr wrap="square">
            <a:spAutoFit/>
          </a:bodyPr>
          <a:lstStyle/>
          <a:p>
            <a:pPr algn="l"/>
            <a:r>
              <a:rPr sz="1500" b="1" i="0">
                <a:solidFill>
                  <a:srgbClr val="FFFFFF"/>
                </a:solidFill>
              </a:rPr>
              <a:t>15-unit RMSE gap in popularity space.</a:t>
            </a:r>
          </a:p>
        </p:txBody>
      </p:sp>
      <p:sp>
        <p:nvSpPr>
          <p:cNvPr id="31" name="TextBox 30"/>
          <p:cNvSpPr txBox="1"/>
          <p:nvPr/>
        </p:nvSpPr>
        <p:spPr>
          <a:xfrm>
            <a:off x="457200" y="4791456"/>
            <a:ext cx="4160520" cy="365760"/>
          </a:xfrm>
          <a:prstGeom prst="rect">
            <a:avLst/>
          </a:prstGeom>
          <a:noFill/>
        </p:spPr>
        <p:txBody>
          <a:bodyPr wrap="square">
            <a:spAutoFit/>
          </a:bodyPr>
          <a:lstStyle/>
          <a:p>
            <a:pPr algn="l"/>
            <a:r>
              <a:rPr sz="1500" b="1" i="0">
                <a:solidFill>
                  <a:srgbClr val="1DB954"/>
                </a:solidFill>
              </a:rPr>
              <a:t>3-unit gap in audio space.</a:t>
            </a:r>
          </a:p>
        </p:txBody>
      </p:sp>
      <p:sp>
        <p:nvSpPr>
          <p:cNvPr id="32" name="TextBox 31"/>
          <p:cNvSpPr txBox="1"/>
          <p:nvPr/>
        </p:nvSpPr>
        <p:spPr>
          <a:xfrm>
            <a:off x="457200" y="5230368"/>
            <a:ext cx="4160520" cy="1097280"/>
          </a:xfrm>
          <a:prstGeom prst="rect">
            <a:avLst/>
          </a:prstGeom>
          <a:noFill/>
        </p:spPr>
        <p:txBody>
          <a:bodyPr wrap="square">
            <a:spAutoFit/>
          </a:bodyPr>
          <a:lstStyle/>
          <a:p>
            <a:pPr algn="l"/>
            <a:r>
              <a:rPr sz="1300" b="0" i="0">
                <a:solidFill>
                  <a:srgbClr val="BBBBBB"/>
                </a:solidFill>
              </a:rPr>
              <a:t>The loop cannot fix what the data does not contain. No model change, transform, or hyperparameter addresses an information shortfall.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34440"/>
            <a:ext cx="12188952" cy="54864"/>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201168"/>
            <a:ext cx="11338560" cy="685800"/>
          </a:xfrm>
          <a:prstGeom prst="rect">
            <a:avLst/>
          </a:prstGeom>
          <a:noFill/>
        </p:spPr>
        <p:txBody>
          <a:bodyPr wrap="square">
            <a:spAutoFit/>
          </a:bodyPr>
          <a:lstStyle/>
          <a:p>
            <a:pPr algn="l"/>
            <a:r>
              <a:rPr sz="3000" b="1" i="0">
                <a:solidFill>
                  <a:srgbClr val="FFFFFF"/>
                </a:solidFill>
              </a:rPr>
              <a:t>What the Loop Can and Cannot Do</a:t>
            </a:r>
          </a:p>
        </p:txBody>
      </p:sp>
      <p:sp>
        <p:nvSpPr>
          <p:cNvPr id="6" name="TextBox 5"/>
          <p:cNvSpPr txBox="1"/>
          <p:nvPr/>
        </p:nvSpPr>
        <p:spPr>
          <a:xfrm>
            <a:off x="411480" y="804672"/>
            <a:ext cx="11338560" cy="365760"/>
          </a:xfrm>
          <a:prstGeom prst="rect">
            <a:avLst/>
          </a:prstGeom>
          <a:noFill/>
        </p:spPr>
        <p:txBody>
          <a:bodyPr wrap="square">
            <a:spAutoFit/>
          </a:bodyPr>
          <a:lstStyle/>
          <a:p>
            <a:pPr algn="l"/>
            <a:r>
              <a:rPr sz="1400" b="0" i="0">
                <a:solidFill>
                  <a:srgbClr val="AAAAAA"/>
                </a:solidFill>
              </a:rPr>
              <a:t>Reflection  ·  takeaways  ·  future work</a:t>
            </a:r>
          </a:p>
        </p:txBody>
      </p:sp>
      <p:sp>
        <p:nvSpPr>
          <p:cNvPr id="7" name="Rectangle 6"/>
          <p:cNvSpPr/>
          <p:nvPr/>
        </p:nvSpPr>
        <p:spPr>
          <a:xfrm>
            <a:off x="320040" y="1417320"/>
            <a:ext cx="3566160" cy="44348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3566160" cy="38404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472184"/>
            <a:ext cx="3383279" cy="329184"/>
          </a:xfrm>
          <a:prstGeom prst="rect">
            <a:avLst/>
          </a:prstGeom>
          <a:noFill/>
        </p:spPr>
        <p:txBody>
          <a:bodyPr wrap="square">
            <a:spAutoFit/>
          </a:bodyPr>
          <a:lstStyle/>
          <a:p>
            <a:pPr algn="ctr"/>
            <a:r>
              <a:rPr sz="1400" b="1" i="0">
                <a:solidFill>
                  <a:srgbClr val="FFFFFF"/>
                </a:solidFill>
              </a:rPr>
              <a:t>Loop Strengths</a:t>
            </a:r>
          </a:p>
        </p:txBody>
      </p:sp>
      <p:sp>
        <p:nvSpPr>
          <p:cNvPr id="10" name="Rectangle 9"/>
          <p:cNvSpPr/>
          <p:nvPr/>
        </p:nvSpPr>
        <p:spPr>
          <a:xfrm>
            <a:off x="457200" y="1920240"/>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993392"/>
            <a:ext cx="3054096" cy="685800"/>
          </a:xfrm>
          <a:prstGeom prst="rect">
            <a:avLst/>
          </a:prstGeom>
          <a:noFill/>
        </p:spPr>
        <p:txBody>
          <a:bodyPr wrap="square">
            <a:spAutoFit/>
          </a:bodyPr>
          <a:lstStyle/>
          <a:p>
            <a:pPr algn="l"/>
            <a:r>
              <a:rPr sz="1300" b="0" i="0">
                <a:solidFill>
                  <a:srgbClr val="FFFFFF"/>
                </a:solidFill>
              </a:rPr>
              <a:t>Zero crashes across 16 experiments</a:t>
            </a:r>
          </a:p>
        </p:txBody>
      </p:sp>
      <p:sp>
        <p:nvSpPr>
          <p:cNvPr id="12" name="Rectangle 11"/>
          <p:cNvSpPr/>
          <p:nvPr/>
        </p:nvSpPr>
        <p:spPr>
          <a:xfrm>
            <a:off x="457200" y="2852928"/>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2926080"/>
            <a:ext cx="3054096" cy="685800"/>
          </a:xfrm>
          <a:prstGeom prst="rect">
            <a:avLst/>
          </a:prstGeom>
          <a:noFill/>
        </p:spPr>
        <p:txBody>
          <a:bodyPr wrap="square">
            <a:spAutoFit/>
          </a:bodyPr>
          <a:lstStyle/>
          <a:p>
            <a:pPr algn="l"/>
            <a:r>
              <a:rPr sz="1300" b="0" i="0">
                <a:solidFill>
                  <a:srgbClr val="FFFFFF"/>
                </a:solidFill>
              </a:rPr>
              <a:t>Correct rollbacks on every revert</a:t>
            </a:r>
          </a:p>
        </p:txBody>
      </p:sp>
      <p:sp>
        <p:nvSpPr>
          <p:cNvPr id="14" name="Rectangle 13"/>
          <p:cNvSpPr/>
          <p:nvPr/>
        </p:nvSpPr>
        <p:spPr>
          <a:xfrm>
            <a:off x="457200" y="3785616"/>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 y="3858768"/>
            <a:ext cx="3054096" cy="685800"/>
          </a:xfrm>
          <a:prstGeom prst="rect">
            <a:avLst/>
          </a:prstGeom>
          <a:noFill/>
        </p:spPr>
        <p:txBody>
          <a:bodyPr wrap="square">
            <a:spAutoFit/>
          </a:bodyPr>
          <a:lstStyle/>
          <a:p>
            <a:pPr algn="l"/>
            <a:r>
              <a:rPr sz="1300" b="0" i="0">
                <a:solidFill>
                  <a:srgbClr val="FFFFFF"/>
                </a:solidFill>
              </a:rPr>
              <a:t>Identified diminishing returns</a:t>
            </a:r>
          </a:p>
        </p:txBody>
      </p:sp>
      <p:sp>
        <p:nvSpPr>
          <p:cNvPr id="16" name="Rectangle 15"/>
          <p:cNvSpPr/>
          <p:nvPr/>
        </p:nvSpPr>
        <p:spPr>
          <a:xfrm>
            <a:off x="457200" y="4718304"/>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4791456"/>
            <a:ext cx="3054096" cy="685800"/>
          </a:xfrm>
          <a:prstGeom prst="rect">
            <a:avLst/>
          </a:prstGeom>
          <a:noFill/>
        </p:spPr>
        <p:txBody>
          <a:bodyPr wrap="square">
            <a:spAutoFit/>
          </a:bodyPr>
          <a:lstStyle/>
          <a:p>
            <a:pPr algn="l"/>
            <a:r>
              <a:rPr sz="1300" b="0" i="0">
                <a:solidFill>
                  <a:srgbClr val="FFFFFF"/>
                </a:solidFill>
              </a:rPr>
              <a:t>Applied log transforms correctly</a:t>
            </a:r>
          </a:p>
        </p:txBody>
      </p:sp>
      <p:sp>
        <p:nvSpPr>
          <p:cNvPr id="18" name="Rectangle 17"/>
          <p:cNvSpPr/>
          <p:nvPr/>
        </p:nvSpPr>
        <p:spPr>
          <a:xfrm>
            <a:off x="4114800" y="1417320"/>
            <a:ext cx="3566160" cy="44348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0" y="1417320"/>
            <a:ext cx="3566160" cy="384048"/>
          </a:xfrm>
          <a:prstGeom prst="rect">
            <a:avLst/>
          </a:prstGeom>
          <a:solidFill>
            <a:srgbClr val="F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1472184"/>
            <a:ext cx="3383279" cy="329184"/>
          </a:xfrm>
          <a:prstGeom prst="rect">
            <a:avLst/>
          </a:prstGeom>
          <a:noFill/>
        </p:spPr>
        <p:txBody>
          <a:bodyPr wrap="square">
            <a:spAutoFit/>
          </a:bodyPr>
          <a:lstStyle/>
          <a:p>
            <a:pPr algn="ctr"/>
            <a:r>
              <a:rPr sz="1400" b="1" i="0">
                <a:solidFill>
                  <a:srgbClr val="FFFFFF"/>
                </a:solidFill>
              </a:rPr>
              <a:t>Loop Limits</a:t>
            </a:r>
          </a:p>
        </p:txBody>
      </p:sp>
      <p:sp>
        <p:nvSpPr>
          <p:cNvPr id="21" name="Rectangle 20"/>
          <p:cNvSpPr/>
          <p:nvPr/>
        </p:nvSpPr>
        <p:spPr>
          <a:xfrm>
            <a:off x="4251960" y="1920240"/>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0832" y="1993392"/>
            <a:ext cx="3054096" cy="685800"/>
          </a:xfrm>
          <a:prstGeom prst="rect">
            <a:avLst/>
          </a:prstGeom>
          <a:noFill/>
        </p:spPr>
        <p:txBody>
          <a:bodyPr wrap="square">
            <a:spAutoFit/>
          </a:bodyPr>
          <a:lstStyle/>
          <a:p>
            <a:pPr algn="l"/>
            <a:r>
              <a:rPr sz="1300" b="0" i="0">
                <a:solidFill>
                  <a:srgbClr val="FFFFFF"/>
                </a:solidFill>
              </a:rPr>
              <a:t>Index artifact undetected 5 weeks</a:t>
            </a:r>
          </a:p>
        </p:txBody>
      </p:sp>
      <p:sp>
        <p:nvSpPr>
          <p:cNvPr id="23" name="Rectangle 22"/>
          <p:cNvSpPr/>
          <p:nvPr/>
        </p:nvSpPr>
        <p:spPr>
          <a:xfrm>
            <a:off x="4251960" y="2852928"/>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0832" y="2926080"/>
            <a:ext cx="3054096" cy="685800"/>
          </a:xfrm>
          <a:prstGeom prst="rect">
            <a:avLst/>
          </a:prstGeom>
          <a:noFill/>
        </p:spPr>
        <p:txBody>
          <a:bodyPr wrap="square">
            <a:spAutoFit/>
          </a:bodyPr>
          <a:lstStyle/>
          <a:p>
            <a:pPr algn="l"/>
            <a:r>
              <a:rPr sz="1300" b="0" i="0">
                <a:solidFill>
                  <a:srgbClr val="FFFFFF"/>
                </a:solidFill>
              </a:rPr>
              <a:t>Ran 3 identical interaction experiments</a:t>
            </a:r>
          </a:p>
        </p:txBody>
      </p:sp>
      <p:sp>
        <p:nvSpPr>
          <p:cNvPr id="25" name="Rectangle 24"/>
          <p:cNvSpPr/>
          <p:nvPr/>
        </p:nvSpPr>
        <p:spPr>
          <a:xfrm>
            <a:off x="4251960" y="3785616"/>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3858768"/>
            <a:ext cx="3054096" cy="685800"/>
          </a:xfrm>
          <a:prstGeom prst="rect">
            <a:avLst/>
          </a:prstGeom>
          <a:noFill/>
        </p:spPr>
        <p:txBody>
          <a:bodyPr wrap="square">
            <a:spAutoFit/>
          </a:bodyPr>
          <a:lstStyle/>
          <a:p>
            <a:pPr algn="l"/>
            <a:r>
              <a:rPr sz="1300" b="0" i="0">
                <a:solidFill>
                  <a:srgbClr val="FFFFFF"/>
                </a:solidFill>
              </a:rPr>
              <a:t>Analysis started in Week 6 (not Week 3)</a:t>
            </a:r>
          </a:p>
        </p:txBody>
      </p:sp>
      <p:sp>
        <p:nvSpPr>
          <p:cNvPr id="27" name="Rectangle 26"/>
          <p:cNvSpPr/>
          <p:nvPr/>
        </p:nvSpPr>
        <p:spPr>
          <a:xfrm>
            <a:off x="4251960" y="4718304"/>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0832" y="4791456"/>
            <a:ext cx="3054096" cy="685800"/>
          </a:xfrm>
          <a:prstGeom prst="rect">
            <a:avLst/>
          </a:prstGeom>
          <a:noFill/>
        </p:spPr>
        <p:txBody>
          <a:bodyPr wrap="square">
            <a:spAutoFit/>
          </a:bodyPr>
          <a:lstStyle/>
          <a:p>
            <a:pPr algn="l"/>
            <a:r>
              <a:rPr sz="1300" b="0" i="0">
                <a:solidFill>
                  <a:srgbClr val="FFFFFF"/>
                </a:solidFill>
              </a:rPr>
              <a:t>No diminishing-returns checkpoint</a:t>
            </a:r>
          </a:p>
        </p:txBody>
      </p:sp>
      <p:sp>
        <p:nvSpPr>
          <p:cNvPr id="29" name="Rectangle 28"/>
          <p:cNvSpPr/>
          <p:nvPr/>
        </p:nvSpPr>
        <p:spPr>
          <a:xfrm>
            <a:off x="7909560" y="1417320"/>
            <a:ext cx="3566160" cy="4434840"/>
          </a:xfrm>
          <a:prstGeom prst="rect">
            <a:avLst/>
          </a:prstGeom>
          <a:solidFill>
            <a:srgbClr val="222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09560" y="1417320"/>
            <a:ext cx="3566160" cy="384048"/>
          </a:xfrm>
          <a:prstGeom prst="rect">
            <a:avLst/>
          </a:prstGeom>
          <a:solidFill>
            <a:srgbClr val="FFB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01000" y="1472184"/>
            <a:ext cx="3383279" cy="329184"/>
          </a:xfrm>
          <a:prstGeom prst="rect">
            <a:avLst/>
          </a:prstGeom>
          <a:noFill/>
        </p:spPr>
        <p:txBody>
          <a:bodyPr wrap="square">
            <a:spAutoFit/>
          </a:bodyPr>
          <a:lstStyle/>
          <a:p>
            <a:pPr algn="ctr"/>
            <a:r>
              <a:rPr sz="1400" b="1" i="0">
                <a:solidFill>
                  <a:srgbClr val="FFFFFF"/>
                </a:solidFill>
              </a:rPr>
              <a:t>Future Work</a:t>
            </a:r>
          </a:p>
        </p:txBody>
      </p:sp>
      <p:sp>
        <p:nvSpPr>
          <p:cNvPr id="32" name="Rectangle 31"/>
          <p:cNvSpPr/>
          <p:nvPr/>
        </p:nvSpPr>
        <p:spPr>
          <a:xfrm>
            <a:off x="8046720" y="1920240"/>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65592" y="1993392"/>
            <a:ext cx="3054096" cy="685800"/>
          </a:xfrm>
          <a:prstGeom prst="rect">
            <a:avLst/>
          </a:prstGeom>
          <a:noFill/>
        </p:spPr>
        <p:txBody>
          <a:bodyPr wrap="square">
            <a:spAutoFit/>
          </a:bodyPr>
          <a:lstStyle/>
          <a:p>
            <a:pPr algn="l"/>
            <a:r>
              <a:rPr sz="1300" b="0" i="0">
                <a:solidFill>
                  <a:srgbClr val="FFFFFF"/>
                </a:solidFill>
              </a:rPr>
              <a:t>Artist-level features</a:t>
            </a:r>
          </a:p>
        </p:txBody>
      </p:sp>
      <p:sp>
        <p:nvSpPr>
          <p:cNvPr id="34" name="Rectangle 33"/>
          <p:cNvSpPr/>
          <p:nvPr/>
        </p:nvSpPr>
        <p:spPr>
          <a:xfrm>
            <a:off x="8046720" y="2852928"/>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65592" y="2926080"/>
            <a:ext cx="3054096" cy="685800"/>
          </a:xfrm>
          <a:prstGeom prst="rect">
            <a:avLst/>
          </a:prstGeom>
          <a:noFill/>
        </p:spPr>
        <p:txBody>
          <a:bodyPr wrap="square">
            <a:spAutoFit/>
          </a:bodyPr>
          <a:lstStyle/>
          <a:p>
            <a:pPr algn="l"/>
            <a:r>
              <a:rPr sz="1300" b="0" i="0">
                <a:solidFill>
                  <a:srgbClr val="FFFFFF"/>
                </a:solidFill>
              </a:rPr>
              <a:t>Playlist placement signals</a:t>
            </a:r>
          </a:p>
        </p:txBody>
      </p:sp>
      <p:sp>
        <p:nvSpPr>
          <p:cNvPr id="36" name="Rectangle 35"/>
          <p:cNvSpPr/>
          <p:nvPr/>
        </p:nvSpPr>
        <p:spPr>
          <a:xfrm>
            <a:off x="8046720" y="3785616"/>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165592" y="3858768"/>
            <a:ext cx="3054096" cy="685800"/>
          </a:xfrm>
          <a:prstGeom prst="rect">
            <a:avLst/>
          </a:prstGeom>
          <a:noFill/>
        </p:spPr>
        <p:txBody>
          <a:bodyPr wrap="square">
            <a:spAutoFit/>
          </a:bodyPr>
          <a:lstStyle/>
          <a:p>
            <a:pPr algn="l"/>
            <a:r>
              <a:rPr sz="1300" b="0" i="0">
                <a:solidFill>
                  <a:srgbClr val="FFFFFF"/>
                </a:solidFill>
              </a:rPr>
              <a:t>Release context + label support</a:t>
            </a:r>
          </a:p>
        </p:txBody>
      </p:sp>
      <p:sp>
        <p:nvSpPr>
          <p:cNvPr id="38" name="Rectangle 37"/>
          <p:cNvSpPr/>
          <p:nvPr/>
        </p:nvSpPr>
        <p:spPr>
          <a:xfrm>
            <a:off x="8046720" y="4718304"/>
            <a:ext cx="3291840" cy="804672"/>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65592" y="4791456"/>
            <a:ext cx="3054096" cy="685800"/>
          </a:xfrm>
          <a:prstGeom prst="rect">
            <a:avLst/>
          </a:prstGeom>
          <a:noFill/>
        </p:spPr>
        <p:txBody>
          <a:bodyPr wrap="square">
            <a:spAutoFit/>
          </a:bodyPr>
          <a:lstStyle/>
          <a:p>
            <a:pPr algn="l"/>
            <a:r>
              <a:rPr sz="1300" b="0" i="0">
                <a:solidFill>
                  <a:srgbClr val="FFFFFF"/>
                </a:solidFill>
              </a:rPr>
              <a:t>Feature audit after first model fit</a:t>
            </a:r>
          </a:p>
        </p:txBody>
      </p:sp>
      <p:sp>
        <p:nvSpPr>
          <p:cNvPr id="40" name="Rectangle 39"/>
          <p:cNvSpPr/>
          <p:nvPr/>
        </p:nvSpPr>
        <p:spPr>
          <a:xfrm>
            <a:off x="320040" y="6035040"/>
            <a:ext cx="11548872" cy="658368"/>
          </a:xfrm>
          <a:prstGeom prst="rect">
            <a:avLst/>
          </a:prstGeom>
          <a:solidFill>
            <a:srgbClr val="1DB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108192"/>
            <a:ext cx="11183112" cy="530352"/>
          </a:xfrm>
          <a:prstGeom prst="rect">
            <a:avLst/>
          </a:prstGeom>
          <a:noFill/>
        </p:spPr>
        <p:txBody>
          <a:bodyPr wrap="square">
            <a:spAutoFit/>
          </a:bodyPr>
          <a:lstStyle/>
          <a:p>
            <a:pPr algn="ctr"/>
            <a:r>
              <a:rPr sz="1500" b="1" i="0">
                <a:solidFill>
                  <a:srgbClr val="FFFFFF"/>
                </a:solidFill>
              </a:rPr>
              <a:t>Improving prediction required understanding the limits of the data, not building more complex models.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