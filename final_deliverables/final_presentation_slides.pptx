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194"/>
    <p:restoredTop sz="94648"/>
  </p:normalViewPr>
  <p:slideViewPr>
    <p:cSldViewPr snapToGrid="0" snapToObjects="1">
      <p:cViewPr>
        <p:scale>
          <a:sx n="86" d="100"/>
          <a:sy n="86" d="100"/>
        </p:scale>
        <p:origin x="168" y="8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1 / 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Predicting Spotify Popularity with Audio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64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1">
                <a:solidFill>
                  <a:srgbClr val="53C28B"/>
                </a:solidFill>
              </a:rPr>
              <a:t>An AutoResearch Investigation of What Audio Can—and Cannot—Predict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54680"/>
            <a:ext cx="11091672" cy="868680"/>
          </a:xfrm>
          <a:prstGeom prst="rect">
            <a:avLst/>
          </a:prstGeom>
          <a:solidFill>
            <a:srgbClr val="1D9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227832"/>
            <a:ext cx="10817352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Claim: Audio features reduce prediction error by 28.7%—but a hard ceiling remains because hit-making depends on factors no audio feature can capture.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343400"/>
            <a:ext cx="2743200" cy="141732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453128"/>
            <a:ext cx="2560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DB954"/>
                </a:solidFill>
              </a:rPr>
              <a:t>~114,000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663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Spotify tracks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4343400"/>
            <a:ext cx="2743200" cy="141732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4453128"/>
            <a:ext cx="2560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DB954"/>
                </a:solidFill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1663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experiments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343400"/>
            <a:ext cx="2743200" cy="141732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453128"/>
            <a:ext cx="2560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DB954"/>
                </a:solidFill>
              </a:rPr>
              <a:t>22.06 → 15.72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1663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RMSE improvement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4343400"/>
            <a:ext cx="2743200" cy="141732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4453128"/>
            <a:ext cx="2560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DB954"/>
                </a:solidFill>
              </a:rPr>
              <a:t>28.7%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1663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error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 dirty="0">
                <a:solidFill>
                  <a:srgbClr val="888899"/>
                </a:solidFill>
              </a:rPr>
              <a:t>Emily Yoo  ·  </a:t>
            </a:r>
            <a:r>
              <a:rPr lang="en-US" sz="1100" dirty="0">
                <a:solidFill>
                  <a:srgbClr val="888899"/>
                </a:solidFill>
              </a:rPr>
              <a:t>Stat390</a:t>
            </a:r>
            <a:r>
              <a:rPr sz="1100" b="0" i="0" dirty="0">
                <a:solidFill>
                  <a:srgbClr val="888899"/>
                </a:solidFill>
              </a:rPr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Topic → AutoResearch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96012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DB954"/>
                </a:solidFill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"Can Spotify track popularity be predicted from numeric audio features, and what are the practical limits of audio-only prediction?"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dirty="0">
                <a:solidFill>
                  <a:srgbClr val="1DB954"/>
                </a:solidFill>
              </a:rPr>
              <a:t>THE 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502920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Spotify exposes 13 numeric audio features per track</a:t>
            </a:r>
          </a:p>
          <a:p>
            <a:pPr algn="l"/>
            <a:endParaRPr sz="1600" b="0" i="1" dirty="0">
              <a:solidFill>
                <a:srgbClr val="CCCCCC"/>
              </a:solidFill>
            </a:endParaRPr>
          </a:p>
          <a:p>
            <a:pPr algn="l"/>
            <a:r>
              <a:rPr sz="1600" b="1" i="0" dirty="0">
                <a:solidFill>
                  <a:srgbClr val="53C28B"/>
                </a:solidFill>
              </a:rPr>
              <a:t>Target variable:  popularity  (0–100 integer)</a:t>
            </a:r>
          </a:p>
          <a:p>
            <a:pPr algn="l"/>
            <a:endParaRPr sz="1600" b="1" i="0" dirty="0">
              <a:solidFill>
                <a:srgbClr val="53C28B"/>
              </a:solidFill>
            </a:endParaRPr>
          </a:p>
          <a:p>
            <a:pPr algn="l"/>
            <a:r>
              <a:rPr sz="1600" b="0" i="0" dirty="0">
                <a:solidFill>
                  <a:srgbClr val="FFFFFF"/>
                </a:solidFill>
              </a:rPr>
              <a:t>The intuition: a song's sonic character should predict how popular it becomes.</a:t>
            </a:r>
          </a:p>
          <a:p>
            <a:pPr algn="l"/>
            <a:endParaRPr sz="1600" b="0" i="0" dirty="0">
              <a:solidFill>
                <a:srgbClr val="FFFFFF"/>
              </a:solidFill>
            </a:endParaRPr>
          </a:p>
          <a:p>
            <a:pPr algn="l"/>
            <a:r>
              <a:rPr b="1" i="1" dirty="0">
                <a:solidFill>
                  <a:srgbClr val="FFFFFF"/>
                </a:solidFill>
              </a:rPr>
              <a:t>The harder question: how well, and where does prediction break down?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011680"/>
            <a:ext cx="5303520" cy="411480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148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dirty="0">
                <a:solidFill>
                  <a:srgbClr val="1DB954"/>
                </a:solidFill>
              </a:rPr>
              <a:t>THE AUTORESEARCH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56032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Validation RMSE — one number, frozen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0040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20040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KEEP if RMSE improves · DISCARD if it doesn't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8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4048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Numeric audio features only, no external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48056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Reproducibility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48056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Fixed random_state=42 across all 16 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12064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Accountability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12064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Every experiment logged with decision + 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99632"/>
            <a:ext cx="1127455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 dirty="0">
                <a:solidFill>
                  <a:srgbClr val="888899"/>
                </a:solidFill>
              </a:rPr>
              <a:t>The topic became a contract the moment the research question was operationalized as a reproducible keep/discard loop with a single measurable objective.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3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&amp;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394960" cy="53949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B954"/>
                </a:solidFill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53C28B"/>
                </a:solidFill>
              </a:rPr>
              <a:t>~114,000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463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Spotify tracks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53C28B"/>
                </a:solidFill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numeric audio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53C28B"/>
                </a:solidFill>
              </a:rPr>
              <a:t>0–100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8346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popularity target (integer)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53C28B"/>
                </a:solidFill>
              </a:rPr>
              <a:t>60 / 20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5204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train / val / test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53C28B"/>
                </a:solidFill>
              </a:rPr>
              <a:t>random_state=42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2062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frozen — all 16 RMSEs comparable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5120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Features: danceability · energy · loudness · tempo · speechiness · acousticness · instrumentalness · liveness · valence · key · mode · time_signature · duration_ms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868680"/>
            <a:ext cx="5650992" cy="53949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1005840"/>
            <a:ext cx="565099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B954"/>
                </a:solidFill>
              </a:rPr>
              <a:t>BASELINE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417320"/>
            <a:ext cx="53766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057400"/>
            <a:ext cx="5285232" cy="1143000"/>
          </a:xfrm>
          <a:prstGeom prst="rect">
            <a:avLst/>
          </a:prstGeom>
          <a:solidFill>
            <a:srgbClr val="18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2130552"/>
            <a:ext cx="528523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 i="0">
                <a:solidFill>
                  <a:srgbClr val="1DB954"/>
                </a:solidFill>
              </a:rPr>
              <a:t>22.06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880360"/>
            <a:ext cx="52852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Baseline RMSE (validation set)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383280"/>
            <a:ext cx="1691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R² = 0.026: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383280"/>
            <a:ext cx="3593592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near-zero — no meaningful linear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858768"/>
            <a:ext cx="1691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Ridge α=1.0: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858768"/>
            <a:ext cx="3593592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identical RMSE — not an overfitting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334256"/>
            <a:ext cx="1691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Evaluation metric: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334256"/>
            <a:ext cx="3593592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RMSE used across all 16 experiments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809744"/>
            <a:ext cx="1691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Interpretation: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809744"/>
            <a:ext cx="3593592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300" b="0" i="0" dirty="0">
                <a:solidFill>
                  <a:srgbClr val="FFFFFF"/>
                </a:solidFill>
              </a:rPr>
              <a:t>popularity is not well explained by a simple linear combination of audio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The baseline was frozen on Day 1. All 16 experiment RMSE values are directly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4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Loop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3807" y="1417320"/>
            <a:ext cx="2926080" cy="2194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40967" y="152704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DB95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0967" y="192024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RUN
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269748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Modify model.py
Run python3 run.py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5607" y="23774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DB95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32807" y="1417320"/>
            <a:ext cx="2926080" cy="2194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9967" y="152704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DB954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9967" y="192024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EVALUATE
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9967" y="269748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Compare to
current best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4607" y="23774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DB95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1807" y="1417320"/>
            <a:ext cx="2926080" cy="2194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8967" y="152704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DB954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8967" y="192024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KEEP /
DISCARD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8967" y="269748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Retain if RMSE ↓
Revert if RMSE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3807" y="3840480"/>
            <a:ext cx="9784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1">
                <a:solidFill>
                  <a:srgbClr val="53C28B"/>
                </a:solidFill>
              </a:rPr>
              <a:t>↩  repeat for next experiment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267" y="4709160"/>
            <a:ext cx="2240280" cy="15087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7987" y="4846320"/>
            <a:ext cx="2148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1DB954"/>
                </a:solidFill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987" y="566928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experiments run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43987" y="4709160"/>
            <a:ext cx="2240280" cy="15087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89707" y="4846320"/>
            <a:ext cx="2148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1DB954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9707" y="566928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crashes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75707" y="4709160"/>
            <a:ext cx="2240280" cy="15087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1427" y="4846320"/>
            <a:ext cx="2148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1DB954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1427" y="566928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directions retained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7427" y="4709160"/>
            <a:ext cx="2240280" cy="15087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53147" y="4846320"/>
            <a:ext cx="2148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1DB954"/>
                </a:solidFill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3147" y="566928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directions discarded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39147" y="4709160"/>
            <a:ext cx="2240280" cy="15087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84867" y="4846320"/>
            <a:ext cx="2148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1DB954"/>
                </a:solidFill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4867" y="566928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reproducible evaluations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1">
                <a:solidFill>
                  <a:srgbClr val="888899"/>
                </a:solidFill>
              </a:rPr>
              <a:t>Fixed random_state=42  ·  frozen train/val/test split  ·  no external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Experiment Trace: What Directions Did the Agent Explore?</a:t>
            </a:r>
          </a:p>
        </p:txBody>
      </p:sp>
      <p:pic>
        <p:nvPicPr>
          <p:cNvPr id="5" name="Picture 4" descr="metric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6" y="1362456"/>
            <a:ext cx="7129861" cy="36486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95880" y="822960"/>
            <a:ext cx="4970101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3898" y="886968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 dirty="0" err="1">
                <a:solidFill>
                  <a:srgbClr val="888899"/>
                </a:solidFill>
              </a:rPr>
              <a:t>Wk</a:t>
            </a:r>
            <a:r>
              <a:rPr sz="1100" b="1" i="0" dirty="0">
                <a:solidFill>
                  <a:srgbClr val="888899"/>
                </a:solidFill>
              </a:rPr>
              <a:t>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6546" y="886968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Linear Regression (baseline)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2858" y="886968"/>
            <a:ext cx="1815421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888899"/>
                </a:solidFill>
              </a:rPr>
              <a:t>RMSE 22.06  →  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5880" y="1298448"/>
            <a:ext cx="4970101" cy="47548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3898" y="1362456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6546" y="1362456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Random Forest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2858" y="1362456"/>
            <a:ext cx="1815421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B954"/>
                </a:solidFill>
              </a:rPr>
              <a:t>RMSE 15.07  ▼ 31.7%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5880" y="1773936"/>
            <a:ext cx="4970101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3898" y="1837944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6546" y="1837944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HistGradientBoosting (default)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2858" y="1837944"/>
            <a:ext cx="1815421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5534B"/>
                </a:solidFill>
              </a:rPr>
              <a:t>RMSE 18.45  ✗ discarded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95880" y="2249424"/>
            <a:ext cx="4970101" cy="47548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3898" y="2313432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6546" y="2313432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n_estimators scaling (50→300)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2858" y="2268828"/>
            <a:ext cx="1815421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dirty="0">
                <a:solidFill>
                  <a:srgbClr val="53C28B"/>
                </a:solidFill>
              </a:rPr>
              <a:t>RMSE 15.18→14.99  </a:t>
            </a:r>
            <a:endParaRPr lang="en-US" sz="1200" b="1" i="0" dirty="0">
              <a:solidFill>
                <a:srgbClr val="53C28B"/>
              </a:solidFill>
            </a:endParaRPr>
          </a:p>
          <a:p>
            <a:pPr algn="l"/>
            <a:r>
              <a:rPr sz="1200" b="1" i="0" dirty="0">
                <a:solidFill>
                  <a:srgbClr val="53C28B"/>
                </a:solidFill>
              </a:rPr>
              <a:t>small gains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95880" y="2724912"/>
            <a:ext cx="4970101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3898" y="2788920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6546" y="2788920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Log transforms (×5 experiments)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2858" y="2788920"/>
            <a:ext cx="1815421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53C28B"/>
                </a:solidFill>
              </a:rPr>
              <a:t>2 kept, 3 discarded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5880" y="3200400"/>
            <a:ext cx="4970101" cy="47548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63898" y="3264408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76546" y="3264408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Interaction terms (×3 expts)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2858" y="3264408"/>
            <a:ext cx="1815421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5534B"/>
                </a:solidFill>
              </a:rPr>
              <a:t>All 3 discarded  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95880" y="3675888"/>
            <a:ext cx="4970101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63898" y="3739896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6546" y="3739896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ExtraTrees / HistGBR (tuned)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2858" y="3739896"/>
            <a:ext cx="1815421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5534B"/>
                </a:solidFill>
              </a:rPr>
              <a:t>Both discarded  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95880" y="4151376"/>
            <a:ext cx="4970101" cy="47548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63898" y="4215384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76546" y="4215384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Popularity bucket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2858" y="4215384"/>
            <a:ext cx="1815421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Key insight  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95880" y="4626864"/>
            <a:ext cx="4970101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63898" y="4690872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76546" y="4690872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Index artifact 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2858" y="4690872"/>
            <a:ext cx="1815421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Key insight  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95880" y="5102352"/>
            <a:ext cx="4970101" cy="47548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63898" y="5166360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76546" y="5166360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Feature-bucket error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2858" y="5166360"/>
            <a:ext cx="1815421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Key insight  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888899"/>
                </a:solidFill>
              </a:rPr>
              <a:t>One large early drop, then diminishing returns — the trajectory tells the 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Final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1DB954"/>
                </a:solidFill>
              </a:rPr>
              <a:t>22.06  →  15.72   |   28.7% reduction in prediction error</a:t>
            </a:r>
          </a:p>
        </p:txBody>
      </p:sp>
      <p:pic>
        <p:nvPicPr>
          <p:cNvPr id="6" name="Picture 5" descr="error_by_bucke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4" y="1755648"/>
            <a:ext cx="7955710" cy="3630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51566" y="1380744"/>
            <a:ext cx="414264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 dirty="0">
                <a:solidFill>
                  <a:srgbClr val="1DB954"/>
                </a:solidFill>
              </a:rPr>
              <a:t>Popularity Bucket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1699" y="1755648"/>
            <a:ext cx="1283111" cy="292608"/>
          </a:xfrm>
          <a:prstGeom prst="rect">
            <a:avLst/>
          </a:prstGeom>
          <a:solidFill>
            <a:srgbClr val="1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45127" y="1755648"/>
            <a:ext cx="1325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Bucket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25286" y="1755648"/>
            <a:ext cx="731520" cy="292608"/>
          </a:xfrm>
          <a:prstGeom prst="rect">
            <a:avLst/>
          </a:prstGeom>
          <a:solidFill>
            <a:srgbClr val="1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71006" y="1755648"/>
            <a:ext cx="731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6806" y="1755648"/>
            <a:ext cx="777240" cy="292608"/>
          </a:xfrm>
          <a:prstGeom prst="rect">
            <a:avLst/>
          </a:prstGeom>
          <a:solidFill>
            <a:srgbClr val="1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02526" y="1755648"/>
            <a:ext cx="777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34046" y="1755648"/>
            <a:ext cx="1203163" cy="292608"/>
          </a:xfrm>
          <a:prstGeom prst="rect">
            <a:avLst/>
          </a:prstGeom>
          <a:solidFill>
            <a:srgbClr val="1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9766" y="1755648"/>
            <a:ext cx="12031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51699" y="2048256"/>
            <a:ext cx="1283111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42177" y="2103120"/>
            <a:ext cx="128311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Low  (0–33)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25286" y="2048256"/>
            <a:ext cx="73152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71006" y="210312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B954"/>
                </a:solidFill>
              </a:rPr>
              <a:t>15.22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56806" y="2048256"/>
            <a:ext cx="77724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02526" y="21031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+10.67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34046" y="2048256"/>
            <a:ext cx="1203163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29662" y="2078068"/>
            <a:ext cx="1101744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Overpredicts obscure tracks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1699" y="2523744"/>
            <a:ext cx="1283111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42177" y="2578608"/>
            <a:ext cx="128311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Medium (34–66)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25286" y="2523744"/>
            <a:ext cx="73152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71006" y="2578608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B954"/>
                </a:solidFill>
              </a:rPr>
              <a:t>13.31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56806" y="2523744"/>
            <a:ext cx="77724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02526" y="2578608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−8.79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34046" y="2523744"/>
            <a:ext cx="1203163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42188" y="2541030"/>
            <a:ext cx="1284624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Best performance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51699" y="2999232"/>
            <a:ext cx="1283111" cy="475488"/>
          </a:xfrm>
          <a:prstGeom prst="rect">
            <a:avLst/>
          </a:prstGeom>
          <a:solidFill>
            <a:srgbClr val="50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42177" y="3054096"/>
            <a:ext cx="128311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5534B"/>
                </a:solidFill>
              </a:rPr>
              <a:t>High (67–100)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25286" y="2999232"/>
            <a:ext cx="731520" cy="475488"/>
          </a:xfrm>
          <a:prstGeom prst="rect">
            <a:avLst/>
          </a:prstGeom>
          <a:solidFill>
            <a:srgbClr val="50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71006" y="3054096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5534B"/>
                </a:solidFill>
              </a:rPr>
              <a:t>28.48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56806" y="2999232"/>
            <a:ext cx="777240" cy="475488"/>
          </a:xfrm>
          <a:prstGeom prst="rect">
            <a:avLst/>
          </a:prstGeom>
          <a:solidFill>
            <a:srgbClr val="50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02526" y="3054096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5534B"/>
                </a:solidFill>
              </a:rPr>
              <a:t>−23.26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34046" y="2999232"/>
            <a:ext cx="1203163" cy="475488"/>
          </a:xfrm>
          <a:prstGeom prst="rect">
            <a:avLst/>
          </a:prstGeom>
          <a:solidFill>
            <a:srgbClr val="50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42188" y="3008117"/>
            <a:ext cx="12031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 dirty="0">
                <a:solidFill>
                  <a:srgbClr val="E5534B"/>
                </a:solidFill>
              </a:rPr>
              <a:t>Severe underprediction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46195" y="3547332"/>
            <a:ext cx="3921980" cy="1838484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51567" y="3560241"/>
            <a:ext cx="3916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 dirty="0">
                <a:solidFill>
                  <a:srgbClr val="1DB954"/>
                </a:solidFill>
              </a:rPr>
              <a:t>KEY FINDING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2177" y="3835864"/>
            <a:ext cx="3755099" cy="1600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The model works on average tracks.
It fails on breakout hits — a 2.1× RMSE gap between medium and high popularity.
Missing signal: artist reputation, playlist placement, release context — absent from all 13 audio features.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1">
                <a:solidFill>
                  <a:srgbClr val="53C28B"/>
                </a:solidFill>
              </a:rPr>
              <a:t>Audio features describe what a song sounds like. They cannot identify which songs the world hears.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7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Worked vs. What Failed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5669280" cy="384048"/>
          </a:xfrm>
          <a:prstGeom prst="rect">
            <a:avLst/>
          </a:prstGeom>
          <a:solidFill>
            <a:srgbClr val="1A5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DB954"/>
                </a:solidFill>
              </a:rPr>
              <a:t>WHAT WORKED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822960"/>
            <a:ext cx="5669280" cy="384048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877824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5534B"/>
                </a:solidFill>
              </a:rPr>
              <a:t>WHAT FAILED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5669280" cy="66751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298448"/>
            <a:ext cx="54864" cy="66751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5331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Random Forest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27632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22.06 → 15.07  ·  31.7% gain  ·  single biggest 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65960"/>
            <a:ext cx="566928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1965960"/>
            <a:ext cx="54864" cy="66751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02082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n_estimators scaling to 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95144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−0.04  ·  clearly identified diminishing returns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33472"/>
            <a:ext cx="5669280" cy="66751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633472"/>
            <a:ext cx="54864" cy="66751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68833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log1p(duration_ms)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62656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−0.002  ·  right-skew compression improved split criterion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00984"/>
            <a:ext cx="566928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300984"/>
            <a:ext cx="54864" cy="66751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35584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log1p(instrumentalness)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30168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−0.004  ·  zero-inflated distribution benefited from 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68496"/>
            <a:ext cx="5669280" cy="66751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968496"/>
            <a:ext cx="54864" cy="66751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0233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Popularity bucket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297680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Revealed 2.1× RMSE gap  ·  central finding of the project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36008"/>
            <a:ext cx="566928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636008"/>
            <a:ext cx="54864" cy="66751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69087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Index artifact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65192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Caught misleading feature at 35.8% importance  ·  removed for honest results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298448"/>
            <a:ext cx="5669280" cy="66751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63640" y="1298448"/>
            <a:ext cx="54864" cy="66751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135331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HistGradientBoosting (default)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627632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18.45  ·  sequential boosting underperforms RF 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965960"/>
            <a:ext cx="566928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1965960"/>
            <a:ext cx="54864" cy="66751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202082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Interaction terms (×3 experiments)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295144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RF finds interactions natively  ·  all 3 added collinear noise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633472"/>
            <a:ext cx="5669280" cy="66751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63640" y="2633472"/>
            <a:ext cx="54864" cy="66751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268833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 transforms on bounded features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962656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loudness, speechiness, acousticness  ·  added noise, not structure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300984"/>
            <a:ext cx="566928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63640" y="3300984"/>
            <a:ext cx="54864" cy="66751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335584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ExtraTreesRegressor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630168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15.45  ·  random splits inferior to RF best-split search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968496"/>
            <a:ext cx="5669280" cy="66751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63640" y="3968496"/>
            <a:ext cx="54864" cy="66751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40233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RF max_features / min_samples_leaf tuning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297680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15.28–15.38  ·  regularization not the bottleneck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4636008"/>
            <a:ext cx="566928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63640" y="4636008"/>
            <a:ext cx="54864" cy="66751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0" y="469087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Tuned HistGBR (500 iterations)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965192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17.75  ·  even tuned, could not match RF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 dirty="0">
                <a:solidFill>
                  <a:srgbClr val="53C28B"/>
                </a:solidFill>
              </a:rPr>
              <a:t>3 of 16 experiments produced stable value.  10 were discarded.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Reflection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3749039" cy="384048"/>
          </a:xfrm>
          <a:prstGeom prst="rect">
            <a:avLst/>
          </a:prstGeom>
          <a:solidFill>
            <a:srgbClr val="1A5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118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DB954"/>
                </a:solidFill>
              </a:rPr>
              <a:t>What the Loop Did Well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399032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Zero crashes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673352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16 experiments, zero failures. Every rollback correctly restored the prior baseline.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41448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2514600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Correct keep/discard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788920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monotonically controlled. No regression went undetected.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57016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3630168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Identified diminishing returns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904488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6× runtime for 0.5% gain → correctly concluded the bottleneck was the feature set, not capacity.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72584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4745736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Correct log-transform criterion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020056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Applied log1p only to zero-inflated features; left bounded features unchanged.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7" y="868680"/>
            <a:ext cx="3749039" cy="384048"/>
          </a:xfrm>
          <a:prstGeom prst="rect">
            <a:avLst/>
          </a:prstGeom>
          <a:solidFill>
            <a:srgbClr val="4C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7407" y="923544"/>
            <a:ext cx="36118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What Required Human Judgment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7" y="1325880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25695" y="1399032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scope 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5" y="1673352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Deciding to stop modeling and start explaining required judgment about project framing.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7" y="2441448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25695" y="2514600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Index artifact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5" y="2788920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Whether removing the artifact invalidated prior results required scientific judgment.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7" y="3557016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25695" y="3630168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Program constraints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5" y="3904488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Frozen seed, fixed split, no external data — these constraints are what make 16 RMSEs comparable.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6174" y="868680"/>
            <a:ext cx="3749039" cy="384048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57614" y="923544"/>
            <a:ext cx="36118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5534B"/>
                </a:solidFill>
              </a:rPr>
              <a:t>Limits of the Loop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6174" y="1325880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75902" y="1399032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Index artifact undetected 5 weeks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2" y="1673352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No self-auditing step. A feature at 35.8% importance went unquestioned until Week 6.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66174" y="2441448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75902" y="2514600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Redundant failed experiments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2" y="2788920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3 consecutive interaction-term failures. The loop executed its checklist instead of updating its beliefs.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66174" y="3557016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75902" y="3630168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300" b="1" i="0" dirty="0">
                <a:solidFill>
                  <a:srgbClr val="FFFFFF"/>
                </a:solidFill>
              </a:rPr>
              <a:t>Interpretability analysis performed late in the loop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75902" y="4046380"/>
            <a:ext cx="3584447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 dirty="0">
                <a:solidFill>
                  <a:srgbClr val="CCCCCC"/>
                </a:solidFill>
              </a:rPr>
              <a:t>Bucket analysis (Week 6) should have run after Week 3. Would have redirected wasted effort.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66174" y="4672584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75902" y="4745736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Flat decision rule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2" y="5020056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 third failed experiment should carry more weight than a first. The loop treats them equally.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989320"/>
            <a:ext cx="11457432" cy="685800"/>
          </a:xfrm>
          <a:prstGeom prst="rect">
            <a:avLst/>
          </a:prstGeom>
          <a:solidFill>
            <a:srgbClr val="1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608076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Takeaway:  Improving prediction accuracy required understanding the limits of the data — not building more complex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1152</Words>
  <Application>Microsoft Macintosh PowerPoint</Application>
  <PresentationFormat>Widescreen</PresentationFormat>
  <Paragraphs>202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eyooglv1@gmail.com</cp:lastModifiedBy>
  <cp:revision>5</cp:revision>
  <dcterms:created xsi:type="dcterms:W3CDTF">2013-01-27T09:14:16Z</dcterms:created>
  <dcterms:modified xsi:type="dcterms:W3CDTF">2026-05-31T21:24:09Z</dcterms:modified>
  <cp:category/>
</cp:coreProperties>
</file>