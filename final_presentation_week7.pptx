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10972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Slide 1 / 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Predicting Spotify Popularity with Audio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064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1">
                <a:solidFill>
                  <a:srgbClr val="53C28B"/>
                </a:solidFill>
              </a:rPr>
              <a:t>An AutoResearch Investigation of What Audio Can—and Cannot—Predict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54680"/>
            <a:ext cx="11091672" cy="868680"/>
          </a:xfrm>
          <a:prstGeom prst="rect">
            <a:avLst/>
          </a:prstGeom>
          <a:solidFill>
            <a:srgbClr val="1D9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227832"/>
            <a:ext cx="10817352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Claim: Audio features reduce prediction error by 28.7%—but a hard ceiling remains because hit-making depends on factors no audio feature can capture.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343400"/>
            <a:ext cx="2743200" cy="141732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453128"/>
            <a:ext cx="2560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1DB954"/>
                </a:solidFill>
              </a:rPr>
              <a:t>~114,000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663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Spotify tracks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4343400"/>
            <a:ext cx="2743200" cy="141732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4453128"/>
            <a:ext cx="2560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1DB954"/>
                </a:solidFill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1663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experiments 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343400"/>
            <a:ext cx="2743200" cy="141732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453128"/>
            <a:ext cx="2560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1DB954"/>
                </a:solidFill>
              </a:rPr>
              <a:t>22.06 → 15.72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1663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RMSE improvement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4343400"/>
            <a:ext cx="2743200" cy="141732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4453128"/>
            <a:ext cx="2560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1DB954"/>
                </a:solidFill>
              </a:rPr>
              <a:t>28.7%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1663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error reduction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Emily Yoo  ·  AutoResearch Program  ·  Weeks 2–6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10972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Slide 2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Topic → AutoResearch Formulation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96012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DB954"/>
                </a:solidFill>
              </a:rP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"Can Spotify track popularity be predicted from numeric audio features, and what are the practical limits of audio-only prediction?"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303520" cy="411480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B954"/>
                </a:solidFill>
              </a:rPr>
              <a:t>THE TOPIC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42032"/>
            <a:ext cx="5029200" cy="3474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Spotify exposes 13 numeric audio features per track:</a:t>
            </a:r>
          </a:p>
          <a:p>
            <a:pPr algn="l"/>
            <a:r>
              <a:rPr sz="1300" b="0" i="1">
                <a:solidFill>
                  <a:srgbClr val="CCCCCC"/>
                </a:solidFill>
              </a:rPr>
              <a:t>danceability · energy · loudness · tempo · speechiness ·</a:t>
            </a:r>
          </a:p>
          <a:p>
            <a:pPr algn="l"/>
            <a:r>
              <a:rPr sz="1300" b="0" i="1">
                <a:solidFill>
                  <a:srgbClr val="CCCCCC"/>
                </a:solidFill>
              </a:rPr>
              <a:t>acousticness · instrumentalness · liveness · valence ·</a:t>
            </a:r>
          </a:p>
          <a:p>
            <a:pPr algn="l"/>
            <a:r>
              <a:rPr sz="1300" b="0" i="1">
                <a:solidFill>
                  <a:srgbClr val="CCCCCC"/>
                </a:solidFill>
              </a:rPr>
              <a:t>key · mode · time signature · duration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1" i="0">
                <a:solidFill>
                  <a:srgbClr val="53C28B"/>
                </a:solidFill>
              </a:rPr>
              <a:t>Target variable:  popularity  (0–100 integer)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The intuition: a song's sonic character should predict how popular it becomes.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 i="1">
                <a:solidFill>
                  <a:srgbClr val="FFFFFF"/>
                </a:solidFill>
              </a:rPr>
              <a:t>The harder question: how well, and where does prediction break down?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011680"/>
            <a:ext cx="5303520" cy="411480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148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B954"/>
                </a:solidFill>
              </a:rPr>
              <a:t>THE AUTORESEARCH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3C28B"/>
                </a:solidFill>
              </a:rPr>
              <a:t>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560320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Validation RMSE — one number, frozen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20040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3C28B"/>
                </a:solidFill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200400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KEEP if RMSE improves · DISCARD if it doesn't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84048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3C28B"/>
                </a:solidFill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40480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Numeric audio features only, no external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48056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3C28B"/>
                </a:solidFill>
              </a:rPr>
              <a:t>Reproducibility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4480560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Fixed random_state=42 across all 16 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120640"/>
            <a:ext cx="1554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3C28B"/>
                </a:solidFill>
              </a:rPr>
              <a:t>Accountability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5120640"/>
            <a:ext cx="3383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Every experiment logged with decision + RMSE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99632"/>
            <a:ext cx="11274552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888899"/>
                </a:solidFill>
              </a:rPr>
              <a:t>The topic became a contract the moment the research question was operationalized as a reproducible keep/discard loop with a single measurable objective.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10972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Slide 3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&amp;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394960" cy="53949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394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B954"/>
                </a:solidFill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53C28B"/>
                </a:solidFill>
              </a:rPr>
              <a:t>~114,000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4630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Spotify tracks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53C28B"/>
                </a:solidFill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1488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numeric audio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53C28B"/>
                </a:solidFill>
              </a:rPr>
              <a:t>0–100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8346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popularity target (integer)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53C28B"/>
                </a:solidFill>
              </a:rPr>
              <a:t>60 / 20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5204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train / val / test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53C28B"/>
                </a:solidFill>
              </a:rPr>
              <a:t>random_state=42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2062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frozen — all 16 RMSEs comparable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51206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Features: danceability · energy · loudness · tempo · speechiness · acousticness · instrumentalness · liveness · valence · key · mode · time_signature · duration_ms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868680"/>
            <a:ext cx="5650992" cy="53949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005840"/>
            <a:ext cx="5650992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B954"/>
                </a:solidFill>
              </a:rPr>
              <a:t>BASELINE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417320"/>
            <a:ext cx="5376672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Linear Regression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057400"/>
            <a:ext cx="5285232" cy="1143000"/>
          </a:xfrm>
          <a:prstGeom prst="rect">
            <a:avLst/>
          </a:prstGeom>
          <a:solidFill>
            <a:srgbClr val="18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130552"/>
            <a:ext cx="5285232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200" b="1" i="0">
                <a:solidFill>
                  <a:srgbClr val="1DB954"/>
                </a:solidFill>
              </a:rPr>
              <a:t>22.06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880360"/>
            <a:ext cx="52852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Baseline RMSE (validation set)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383280"/>
            <a:ext cx="16916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3C28B"/>
                </a:solidFill>
              </a:rPr>
              <a:t>R² = 0.026: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383280"/>
            <a:ext cx="3593592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near-zero — no meaningful linear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858768"/>
            <a:ext cx="16916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3C28B"/>
                </a:solidFill>
              </a:rPr>
              <a:t>Ridge α=1.0: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858768"/>
            <a:ext cx="3593592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identical RMSE — not an overfitting 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334256"/>
            <a:ext cx="16916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3C28B"/>
                </a:solidFill>
              </a:rPr>
              <a:t>Evaluation metric: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334256"/>
            <a:ext cx="3593592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RMSE used across all 16 experiments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809744"/>
            <a:ext cx="16916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3C28B"/>
                </a:solidFill>
              </a:rPr>
              <a:t>Interpretation: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809744"/>
            <a:ext cx="3593592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audio &amp; popularity have no linear relationship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The baseline was frozen on Day 1. All 16 experiment RMSE values are directly comparable.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10972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Slide 4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Loop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3807" y="1417320"/>
            <a:ext cx="2926080" cy="2194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40967" y="1527048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1DB954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0967" y="1920240"/>
            <a:ext cx="2743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RUN
EXPERIMENT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0967" y="2697480"/>
            <a:ext cx="2743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Modify model.py
Run python3 run.py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5607" y="237744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1DB954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32807" y="1417320"/>
            <a:ext cx="2926080" cy="2194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9967" y="1527048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1DB954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9967" y="1920240"/>
            <a:ext cx="2743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EVALUATE
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9967" y="2697480"/>
            <a:ext cx="2743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Compare to
current best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4607" y="237744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1DB95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1807" y="1417320"/>
            <a:ext cx="2926080" cy="2194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8967" y="1527048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1DB954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8967" y="1920240"/>
            <a:ext cx="2743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KEEP /
DISCARD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8967" y="2697480"/>
            <a:ext cx="2743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Retain if RMSE ↓
Revert if RMSE 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3807" y="3840480"/>
            <a:ext cx="9784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1">
                <a:solidFill>
                  <a:srgbClr val="53C28B"/>
                </a:solidFill>
              </a:rPr>
              <a:t>↩  repeat for next experiment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267" y="4709160"/>
            <a:ext cx="2240280" cy="15087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7987" y="4846320"/>
            <a:ext cx="2148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1DB954"/>
                </a:solidFill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987" y="5669280"/>
            <a:ext cx="2148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experiments run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43987" y="4709160"/>
            <a:ext cx="2240280" cy="15087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89707" y="4846320"/>
            <a:ext cx="2148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1DB954"/>
                </a:solidFill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9707" y="5669280"/>
            <a:ext cx="2148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crashes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75707" y="4709160"/>
            <a:ext cx="2240280" cy="15087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1427" y="4846320"/>
            <a:ext cx="2148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1DB954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1427" y="5669280"/>
            <a:ext cx="2148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directions retained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7427" y="4709160"/>
            <a:ext cx="2240280" cy="15087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53147" y="4846320"/>
            <a:ext cx="2148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1DB954"/>
                </a:solidFill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3147" y="5669280"/>
            <a:ext cx="2148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directions discarded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39147" y="4709160"/>
            <a:ext cx="2240280" cy="15087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84867" y="4846320"/>
            <a:ext cx="2148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1DB954"/>
                </a:solidFill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4867" y="5669280"/>
            <a:ext cx="2148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reproducible evaluations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1">
                <a:solidFill>
                  <a:srgbClr val="888899"/>
                </a:solidFill>
              </a:rPr>
              <a:t>Fixed random_state=42  ·  frozen train/val/test split  ·  no external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10972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Slide 5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Experiment Trace: What Directions Did the Agent Explore?</a:t>
            </a:r>
          </a:p>
        </p:txBody>
      </p:sp>
      <p:pic>
        <p:nvPicPr>
          <p:cNvPr id="5" name="Picture 4" descr="metric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5486400" cy="5120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0760" y="822960"/>
            <a:ext cx="5943600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886968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9128" y="886968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Linear Regression (baseline)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886968"/>
            <a:ext cx="2651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888899"/>
                </a:solidFill>
              </a:rPr>
              <a:t>RMSE 22.06  →  start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298448"/>
            <a:ext cx="5943600" cy="47548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362456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1362456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Random Forest adoption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362456"/>
            <a:ext cx="2651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B954"/>
                </a:solidFill>
              </a:rPr>
              <a:t>RMSE 15.07  ▼ 31.7%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773936"/>
            <a:ext cx="5943600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837944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1837944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HistGradientBoosting (default)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837944"/>
            <a:ext cx="2651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5534B"/>
                </a:solidFill>
              </a:rPr>
              <a:t>RMSE 18.45  ✗ discarded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249424"/>
            <a:ext cx="5943600" cy="47548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313432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2313432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n_estimators scaling (50→300)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13432"/>
            <a:ext cx="2651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53C28B"/>
                </a:solidFill>
              </a:rPr>
              <a:t>RMSE 15.18→14.99  small gains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2724912"/>
            <a:ext cx="5943600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788920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8" y="2788920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Log transforms (×5 experiments)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788920"/>
            <a:ext cx="2651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53C28B"/>
                </a:solidFill>
              </a:rPr>
              <a:t>2 kept, 3 discarded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200400"/>
            <a:ext cx="5943600" cy="47548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264408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3264408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Interaction terms (×3 expts)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264408"/>
            <a:ext cx="2651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5534B"/>
                </a:solidFill>
              </a:rPr>
              <a:t>All 3 discarded  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3675888"/>
            <a:ext cx="5943600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739896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9128" y="3739896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ExtraTrees / HistGBR (tuned)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3739896"/>
            <a:ext cx="2651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5534B"/>
                </a:solidFill>
              </a:rPr>
              <a:t>Both discarded  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4151376"/>
            <a:ext cx="5943600" cy="47548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4215384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9128" y="4215384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Popularity bucket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215384"/>
            <a:ext cx="2651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Key insight  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4626864"/>
            <a:ext cx="5943600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690872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39128" y="4690872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Index artifact validation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690872"/>
            <a:ext cx="2651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Key insight  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5102352"/>
            <a:ext cx="5943600" cy="47548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5166360"/>
            <a:ext cx="594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Wk 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39128" y="5166360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Feature-bucket error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5166360"/>
            <a:ext cx="2651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Key insight  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888899"/>
                </a:solidFill>
              </a:rPr>
              <a:t>One large early drop, then diminishing returns — the trajectory tells the 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10972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Slide 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Final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1DB954"/>
                </a:solidFill>
              </a:rPr>
              <a:t>22.06  →  15.72   |   28.7% reduction in prediction error</a:t>
            </a:r>
          </a:p>
        </p:txBody>
      </p:sp>
      <p:pic>
        <p:nvPicPr>
          <p:cNvPr id="6" name="Picture 5" descr="error_by_bucket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94944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1371600"/>
            <a:ext cx="4434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DB954"/>
                </a:solidFill>
              </a:rPr>
              <a:t>Popularity Bucket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43800" y="1755648"/>
            <a:ext cx="1417320" cy="292608"/>
          </a:xfrm>
          <a:prstGeom prst="rect">
            <a:avLst/>
          </a:prstGeom>
          <a:solidFill>
            <a:srgbClr val="1D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755648"/>
            <a:ext cx="1417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Bucket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755648"/>
            <a:ext cx="731520" cy="292608"/>
          </a:xfrm>
          <a:prstGeom prst="rect">
            <a:avLst/>
          </a:prstGeom>
          <a:solidFill>
            <a:srgbClr val="1D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755648"/>
            <a:ext cx="731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0" y="1755648"/>
            <a:ext cx="777240" cy="292608"/>
          </a:xfrm>
          <a:prstGeom prst="rect">
            <a:avLst/>
          </a:prstGeom>
          <a:solidFill>
            <a:srgbClr val="1D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8360" y="1755648"/>
            <a:ext cx="777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69880" y="1755648"/>
            <a:ext cx="1417320" cy="292608"/>
          </a:xfrm>
          <a:prstGeom prst="rect">
            <a:avLst/>
          </a:prstGeom>
          <a:solidFill>
            <a:srgbClr val="1D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1755648"/>
            <a:ext cx="1417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2048256"/>
            <a:ext cx="1417320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21031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Low  (0–33)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048256"/>
            <a:ext cx="731520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10312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B954"/>
                </a:solidFill>
              </a:rPr>
              <a:t>15.22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2048256"/>
            <a:ext cx="777240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210312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+10.67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69880" y="2048256"/>
            <a:ext cx="1417320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0" y="21031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Overpredicts obscure tracks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2523744"/>
            <a:ext cx="1417320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2578608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Medium (34–66)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2523744"/>
            <a:ext cx="731520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578608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DB954"/>
                </a:solidFill>
              </a:rPr>
              <a:t>13.31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2523744"/>
            <a:ext cx="777240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2578608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−8.79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69880" y="2523744"/>
            <a:ext cx="1417320" cy="475488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0" y="2578608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Best performance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2999232"/>
            <a:ext cx="1417320" cy="475488"/>
          </a:xfrm>
          <a:prstGeom prst="rect">
            <a:avLst/>
          </a:prstGeom>
          <a:solidFill>
            <a:srgbClr val="50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3054096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5534B"/>
                </a:solidFill>
              </a:rPr>
              <a:t>High (67–100)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2999232"/>
            <a:ext cx="731520" cy="475488"/>
          </a:xfrm>
          <a:prstGeom prst="rect">
            <a:avLst/>
          </a:prstGeom>
          <a:solidFill>
            <a:srgbClr val="50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3054096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5534B"/>
                </a:solidFill>
              </a:rPr>
              <a:t>28.48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92640" y="2999232"/>
            <a:ext cx="777240" cy="475488"/>
          </a:xfrm>
          <a:prstGeom prst="rect">
            <a:avLst/>
          </a:prstGeom>
          <a:solidFill>
            <a:srgbClr val="50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8360" y="3054096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5534B"/>
                </a:solidFill>
              </a:rPr>
              <a:t>−23.26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69880" y="2999232"/>
            <a:ext cx="1417320" cy="475488"/>
          </a:xfrm>
          <a:prstGeom prst="rect">
            <a:avLst/>
          </a:prstGeom>
          <a:solidFill>
            <a:srgbClr val="50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0" y="3054096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5534B"/>
                </a:solidFill>
              </a:rPr>
              <a:t>Severe underprediction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43800" y="3611880"/>
            <a:ext cx="4434840" cy="214884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3721608"/>
            <a:ext cx="4434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DB954"/>
                </a:solidFill>
              </a:rPr>
              <a:t>KEY FINDING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050792"/>
            <a:ext cx="4251960" cy="1600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The model works on average tracks.
It fails on breakout hits — a 2.1× RMSE gap between medium and high popularity.
Missing signal: artist reputation, playlist placement, release context — absent from all 13 audio features.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1">
                <a:solidFill>
                  <a:srgbClr val="53C28B"/>
                </a:solidFill>
              </a:rPr>
              <a:t>Audio features describe what a song sounds like. They cannot identify which songs the world hears.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10972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Slide 7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Worked vs. What Failed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5669280" cy="384048"/>
          </a:xfrm>
          <a:prstGeom prst="rect">
            <a:avLst/>
          </a:prstGeom>
          <a:solidFill>
            <a:srgbClr val="1A5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DB954"/>
                </a:solidFill>
              </a:rPr>
              <a:t>WHAT WORKED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822960"/>
            <a:ext cx="5669280" cy="384048"/>
          </a:xfrm>
          <a:prstGeom prst="rect">
            <a:avLst/>
          </a:prstGeom>
          <a:solidFill>
            <a:srgbClr val="5C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877824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5534B"/>
                </a:solidFill>
              </a:rPr>
              <a:t>WHAT FAILED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98448"/>
            <a:ext cx="5669280" cy="667512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98448"/>
            <a:ext cx="54864" cy="66751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5331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Random Forest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27632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RMSE 22.06 → 15.07  ·  31.7% gain  ·  single biggest decision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65960"/>
            <a:ext cx="5669280" cy="66751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965960"/>
            <a:ext cx="54864" cy="66751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020824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n_estimators scaling to 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295144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RMSE −0.04  ·  clearly identified diminishing returns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33472"/>
            <a:ext cx="5669280" cy="667512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633472"/>
            <a:ext cx="54864" cy="66751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8833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log1p(duration_ms)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62656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RMSE −0.002  ·  right-skew compression improved split criterion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00984"/>
            <a:ext cx="5669280" cy="66751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300984"/>
            <a:ext cx="54864" cy="66751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5584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log1p(instrumentalness)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630168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RMSE −0.004  ·  zero-inflated distribution benefited from 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68496"/>
            <a:ext cx="5669280" cy="667512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968496"/>
            <a:ext cx="54864" cy="66751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0233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Popularity bucket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297680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Revealed 2.1× RMSE gap  ·  central finding of the project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636008"/>
            <a:ext cx="5669280" cy="66751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636008"/>
            <a:ext cx="54864" cy="66751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69087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Index artifact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965192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Caught misleading feature at 35.8% importance  ·  removed for honest results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298448"/>
            <a:ext cx="5669280" cy="667512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1298448"/>
            <a:ext cx="54864" cy="667512"/>
          </a:xfrm>
          <a:prstGeom prst="rect">
            <a:avLst/>
          </a:prstGeom>
          <a:solidFill>
            <a:srgbClr val="E5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35331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HistGradientBoosting (default)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627632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RMSE 18.45  ·  sequential boosting underperforms RF here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1965960"/>
            <a:ext cx="5669280" cy="66751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1965960"/>
            <a:ext cx="54864" cy="667512"/>
          </a:xfrm>
          <a:prstGeom prst="rect">
            <a:avLst/>
          </a:prstGeom>
          <a:solidFill>
            <a:srgbClr val="E5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2020824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Interaction terms (×3 experiments)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295144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RF finds interactions natively  ·  all 3 added collinear noise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633472"/>
            <a:ext cx="5669280" cy="667512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2633472"/>
            <a:ext cx="54864" cy="667512"/>
          </a:xfrm>
          <a:prstGeom prst="rect">
            <a:avLst/>
          </a:prstGeom>
          <a:solidFill>
            <a:srgbClr val="E5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268833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Log transforms on bounded features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962656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loudness, speechiness, acousticness  ·  added noise, not structure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300984"/>
            <a:ext cx="5669280" cy="66751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3300984"/>
            <a:ext cx="54864" cy="667512"/>
          </a:xfrm>
          <a:prstGeom prst="rect">
            <a:avLst/>
          </a:prstGeom>
          <a:solidFill>
            <a:srgbClr val="E5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35584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ExtraTreesRegressor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3630168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RMSE 15.45  ·  random splits inferior to RF best-split search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968496"/>
            <a:ext cx="5669280" cy="667512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3968496"/>
            <a:ext cx="54864" cy="667512"/>
          </a:xfrm>
          <a:prstGeom prst="rect">
            <a:avLst/>
          </a:prstGeom>
          <a:solidFill>
            <a:srgbClr val="E5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0233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RF max_features / min_samples_leaf tuning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297680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RMSE 15.28–15.38  ·  regularization not the bottleneck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4636008"/>
            <a:ext cx="5669280" cy="667512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63640" y="4636008"/>
            <a:ext cx="54864" cy="667512"/>
          </a:xfrm>
          <a:prstGeom prst="rect">
            <a:avLst/>
          </a:prstGeom>
          <a:solidFill>
            <a:srgbClr val="E5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469087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Tuned HistGBR (500 iterations)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965192"/>
            <a:ext cx="5486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RMSE 17.75  ·  even tuned, could not match RF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53C28B"/>
                </a:solidFill>
              </a:rPr>
              <a:t>3 of 16 experiments produced stable value.  10 were discarded.  Combined post-RF gain: 0.06 RMSE units.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10972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Slide 8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Reflection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3749039" cy="384048"/>
          </a:xfrm>
          <a:prstGeom prst="rect">
            <a:avLst/>
          </a:prstGeom>
          <a:solidFill>
            <a:srgbClr val="1A5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11879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DB954"/>
                </a:solidFill>
              </a:rPr>
              <a:t>What the Loop Did Well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99032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Zero crashes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673352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16 experiments, zero failures. Every rollback correctly restored the prior baseline.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41448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514600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Correct keep/discard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788920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RMSE monotonically controlled. No regression went undetected.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57016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630168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Identified diminishing returns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904488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6× runtime for 0.5% gain → correctly concluded the bottleneck was the feature set, not capacity.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72584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745736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Correct log-transform criterion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5020056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Applied log1p only to zero-inflated features; left bounded features unchanged.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5967" y="868680"/>
            <a:ext cx="3749039" cy="384048"/>
          </a:xfrm>
          <a:prstGeom prst="rect">
            <a:avLst/>
          </a:prstGeom>
          <a:solidFill>
            <a:srgbClr val="4C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7" y="923544"/>
            <a:ext cx="3611879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What Required Human Judgment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7" y="1325880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5695" y="1399032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scope 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5" y="1673352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Deciding to stop modeling and start explaining required judgment about project framing.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7" y="2441448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25695" y="2514600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Index artifact 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5" y="2788920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Whether removing the artifact invalidated prior results required scientific judgment.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5967" y="3557016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5" y="3630168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Program constraints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5" y="3904488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Frozen seed, fixed split, no external data — these constraints are what make 16 RMSEs comparable.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66174" y="868680"/>
            <a:ext cx="3749039" cy="384048"/>
          </a:xfrm>
          <a:prstGeom prst="rect">
            <a:avLst/>
          </a:prstGeom>
          <a:solidFill>
            <a:srgbClr val="5C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4" y="923544"/>
            <a:ext cx="3611879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5534B"/>
                </a:solidFill>
              </a:rPr>
              <a:t>Limits of the Loop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66174" y="1325880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75902" y="1399032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Index artifact undetected 5 weeks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2" y="1673352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No self-auditing step. A feature at 35.8% importance went unquestioned until Week 6.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66174" y="2441448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5902" y="2514600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Redundant failed experiments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2" y="2788920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3 consecutive interaction-term failures. The loop executed its checklist instead of updating its beliefs.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66174" y="3557016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5902" y="3630168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Analysis started too 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2" y="3904488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Bucket analysis (Week 6) should have run after Week 3. Would have redirected wasted effort.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66174" y="4672584"/>
            <a:ext cx="3749039" cy="1051560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75902" y="4745736"/>
            <a:ext cx="358444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Flat decision rule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5902" y="5020056"/>
            <a:ext cx="35844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 third failed experiment should carry more weight than a first. The loop treats them equally.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989320"/>
            <a:ext cx="11457432" cy="685800"/>
          </a:xfrm>
          <a:prstGeom prst="rect">
            <a:avLst/>
          </a:prstGeom>
          <a:solidFill>
            <a:srgbClr val="1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08076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Takeaway:  Improving prediction accuracy required understanding the limits of the data — not building more complex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